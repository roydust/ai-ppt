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1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69" r:id="rId2"/>
    <p:sldId id="284" r:id="rId3"/>
    <p:sldId id="270" r:id="rId4"/>
    <p:sldId id="356" r:id="rId5"/>
    <p:sldId id="352" r:id="rId6"/>
    <p:sldId id="334" r:id="rId7"/>
    <p:sldId id="353" r:id="rId8"/>
    <p:sldId id="335" r:id="rId9"/>
    <p:sldId id="354" r:id="rId10"/>
    <p:sldId id="336" r:id="rId11"/>
    <p:sldId id="309" r:id="rId12"/>
    <p:sldId id="311" r:id="rId13"/>
    <p:sldId id="312" r:id="rId14"/>
    <p:sldId id="313" r:id="rId15"/>
    <p:sldId id="314" r:id="rId16"/>
    <p:sldId id="351" r:id="rId17"/>
    <p:sldId id="355" r:id="rId18"/>
    <p:sldId id="273" r:id="rId19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QDTech" initials="Q" lastIdx="2" clrIdx="1"/>
  <p:cmAuthor id="3" name="zhangludan" initials="z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4FA"/>
    <a:srgbClr val="EEF2F3"/>
    <a:srgbClr val="D0A1F2"/>
    <a:srgbClr val="FFE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0" autoAdjust="0"/>
    <p:restoredTop sz="96034" autoAdjust="0"/>
  </p:normalViewPr>
  <p:slideViewPr>
    <p:cSldViewPr snapToGrid="0" snapToObjects="1">
      <p:cViewPr varScale="1">
        <p:scale>
          <a:sx n="106" d="100"/>
          <a:sy n="106" d="100"/>
        </p:scale>
        <p:origin x="9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88218F-47DB-2224-F887-725CEFABEB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1A0EB81-0E2F-1407-41ED-9E8E10AC29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A195E-CB34-45AD-BFD9-AD0136924044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4FCCF2-E75A-6314-A265-2280944538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416F64-4903-57AF-3336-EDEF8899EC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674CA-6C5E-4D6A-B8A4-FC7717FB1F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257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CC522-209B-8F49-AE84-58CBE1146CF9}" type="datetimeFigureOut">
              <a:rPr kumimoji="1" lang="zh-CN" altLang="en-US" smtClean="0"/>
              <a:t>2025/3/17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874248-6518-0949-8419-4CECF3F8AD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image" Target="../media/image1.jpe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image" Target="../media/image3.sv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10" Type="http://schemas.openxmlformats.org/officeDocument/2006/relationships/tags" Target="../tags/tag19.xml"/><Relationship Id="rId19" Type="http://schemas.openxmlformats.org/officeDocument/2006/relationships/image" Target="../media/image2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tags" Target="../tags/tag38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tags" Target="../tags/tag37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5" Type="http://schemas.openxmlformats.org/officeDocument/2006/relationships/tags" Target="../tags/tag30.xml"/><Relationship Id="rId10" Type="http://schemas.openxmlformats.org/officeDocument/2006/relationships/tags" Target="../tags/tag35.xml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4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9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0" Type="http://schemas.openxmlformats.org/officeDocument/2006/relationships/tags" Target="../tags/tag66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面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:/Users/QDTech/Desktop/图片1.jpg图片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8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任意多边形: 形状 7"/>
          <p:cNvSpPr/>
          <p:nvPr userDrawn="1">
            <p:custDataLst>
              <p:tags r:id="rId2"/>
            </p:custDataLst>
          </p:nvPr>
        </p:nvSpPr>
        <p:spPr>
          <a:xfrm flipH="1">
            <a:off x="7181215" y="1510030"/>
            <a:ext cx="3465195" cy="3465195"/>
          </a:xfrm>
          <a:prstGeom prst="ellipse">
            <a:avLst/>
          </a:prstGeom>
          <a:gradFill>
            <a:gsLst>
              <a:gs pos="0">
                <a:srgbClr val="FFC300"/>
              </a:gs>
              <a:gs pos="54000">
                <a:srgbClr val="EF155F"/>
              </a:gs>
              <a:gs pos="28000">
                <a:srgbClr val="FD6525"/>
              </a:gs>
              <a:gs pos="100000">
                <a:srgbClr val="B50FB5"/>
              </a:gs>
            </a:gsLst>
            <a:lin ang="10800000" scaled="0"/>
          </a:gradFill>
          <a:ln>
            <a:noFill/>
          </a:ln>
          <a:effectLst>
            <a:softEdge rad="508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HarmonyOS Sans SC" panose="00000500000000000000" charset="-122"/>
              <a:ea typeface="HarmonyOS Sans SC" panose="00000500000000000000" charset="-122"/>
              <a:sym typeface="+mn-ea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3"/>
            </p:custDataLst>
          </p:nvPr>
        </p:nvSpPr>
        <p:spPr>
          <a:xfrm>
            <a:off x="8303260" y="2365052"/>
            <a:ext cx="3740150" cy="5210789"/>
          </a:xfrm>
          <a:custGeom>
            <a:avLst/>
            <a:gdLst>
              <a:gd name="connsiteX0" fmla="*/ 3740150 w 3740150"/>
              <a:gd name="connsiteY0" fmla="*/ 0 h 5210789"/>
              <a:gd name="connsiteX1" fmla="*/ 3740150 w 3740150"/>
              <a:gd name="connsiteY1" fmla="*/ 5210789 h 5210789"/>
              <a:gd name="connsiteX2" fmla="*/ 301051 w 3740150"/>
              <a:gd name="connsiteY2" fmla="*/ 5210789 h 5210789"/>
              <a:gd name="connsiteX3" fmla="*/ 293920 w 3740150"/>
              <a:gd name="connsiteY3" fmla="*/ 5195985 h 5210789"/>
              <a:gd name="connsiteX4" fmla="*/ 0 w 3740150"/>
              <a:gd name="connsiteY4" fmla="*/ 3740150 h 5210789"/>
              <a:gd name="connsiteX5" fmla="*/ 3740150 w 3740150"/>
              <a:gd name="connsiteY5" fmla="*/ 0 h 5210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0150" h="5210789">
                <a:moveTo>
                  <a:pt x="3740150" y="0"/>
                </a:moveTo>
                <a:lnTo>
                  <a:pt x="3740150" y="5210789"/>
                </a:lnTo>
                <a:lnTo>
                  <a:pt x="301051" y="5210789"/>
                </a:lnTo>
                <a:lnTo>
                  <a:pt x="293920" y="5195985"/>
                </a:lnTo>
                <a:cubicBezTo>
                  <a:pt x="104658" y="4748520"/>
                  <a:pt x="0" y="4256557"/>
                  <a:pt x="0" y="3740150"/>
                </a:cubicBezTo>
                <a:cubicBezTo>
                  <a:pt x="0" y="1674522"/>
                  <a:pt x="1674522" y="0"/>
                  <a:pt x="3740150" y="0"/>
                </a:cubicBezTo>
                <a:close/>
              </a:path>
            </a:pathLst>
          </a:custGeom>
          <a:gradFill flip="none" rotWithShape="1">
            <a:gsLst>
              <a:gs pos="88000">
                <a:schemeClr val="bg2"/>
              </a:gs>
              <a:gs pos="39000">
                <a:schemeClr val="bg2">
                  <a:alpha val="0"/>
                </a:schemeClr>
              </a:gs>
            </a:gsLst>
            <a:lin ang="13500000" scaled="1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 userDrawn="1">
            <p:custDataLst>
              <p:tags r:id="rId4"/>
            </p:custDataLst>
          </p:nvPr>
        </p:nvSpPr>
        <p:spPr>
          <a:xfrm>
            <a:off x="0" y="6351259"/>
            <a:ext cx="12192000" cy="50674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9000">
                <a:schemeClr val="accent3"/>
              </a:gs>
              <a:gs pos="100000">
                <a:schemeClr val="accent2"/>
              </a:gs>
              <a:gs pos="38000">
                <a:schemeClr val="accent4"/>
              </a:gs>
            </a:gsLst>
            <a:lin ang="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2800" b="1">
              <a:latin typeface="+mj-ea"/>
              <a:ea typeface="+mj-ea"/>
            </a:endParaRPr>
          </a:p>
        </p:txBody>
      </p:sp>
      <p:cxnSp>
        <p:nvCxnSpPr>
          <p:cNvPr id="18" name="直接连接符 17"/>
          <p:cNvCxnSpPr/>
          <p:nvPr userDrawn="1">
            <p:custDataLst>
              <p:tags r:id="rId5"/>
            </p:custDataLst>
          </p:nvPr>
        </p:nvCxnSpPr>
        <p:spPr>
          <a:xfrm flipH="1">
            <a:off x="10945019" y="6605101"/>
            <a:ext cx="573881" cy="0"/>
          </a:xfrm>
          <a:prstGeom prst="line">
            <a:avLst/>
          </a:prstGeom>
          <a:ln w="22225" cap="rnd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任意多边形: 形状 16"/>
          <p:cNvSpPr/>
          <p:nvPr userDrawn="1">
            <p:custDataLst>
              <p:tags r:id="rId6"/>
            </p:custDataLst>
          </p:nvPr>
        </p:nvSpPr>
        <p:spPr>
          <a:xfrm>
            <a:off x="1" y="1"/>
            <a:ext cx="1320207" cy="1156508"/>
          </a:xfrm>
          <a:custGeom>
            <a:avLst/>
            <a:gdLst>
              <a:gd name="connsiteX0" fmla="*/ 0 w 1809977"/>
              <a:gd name="connsiteY0" fmla="*/ 0 h 1585549"/>
              <a:gd name="connsiteX1" fmla="*/ 1809977 w 1809977"/>
              <a:gd name="connsiteY1" fmla="*/ 0 h 1585549"/>
              <a:gd name="connsiteX2" fmla="*/ 1801326 w 1809977"/>
              <a:gd name="connsiteY2" fmla="*/ 56684 h 1585549"/>
              <a:gd name="connsiteX3" fmla="*/ 116835 w 1809977"/>
              <a:gd name="connsiteY3" fmla="*/ 1579650 h 1585549"/>
              <a:gd name="connsiteX4" fmla="*/ 0 w 1809977"/>
              <a:gd name="connsiteY4" fmla="*/ 1585549 h 1585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9977" h="1585549">
                <a:moveTo>
                  <a:pt x="0" y="0"/>
                </a:moveTo>
                <a:lnTo>
                  <a:pt x="1809977" y="0"/>
                </a:lnTo>
                <a:lnTo>
                  <a:pt x="1801326" y="56684"/>
                </a:lnTo>
                <a:cubicBezTo>
                  <a:pt x="1635100" y="869008"/>
                  <a:pt x="955821" y="1494446"/>
                  <a:pt x="116835" y="1579650"/>
                </a:cubicBezTo>
                <a:lnTo>
                  <a:pt x="0" y="1585549"/>
                </a:lnTo>
                <a:close/>
              </a:path>
            </a:pathLst>
          </a:custGeom>
          <a:gradFill flip="none" rotWithShape="1"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alpha val="3000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弧形 20"/>
          <p:cNvSpPr/>
          <p:nvPr userDrawn="1">
            <p:custDataLst>
              <p:tags r:id="rId7"/>
            </p:custDataLst>
          </p:nvPr>
        </p:nvSpPr>
        <p:spPr>
          <a:xfrm flipH="1" flipV="1">
            <a:off x="6581827" y="572963"/>
            <a:ext cx="4505466" cy="4505466"/>
          </a:xfrm>
          <a:prstGeom prst="arc">
            <a:avLst>
              <a:gd name="adj1" fmla="val 8263304"/>
              <a:gd name="adj2" fmla="val 8979118"/>
            </a:avLst>
          </a:prstGeom>
          <a:solidFill>
            <a:schemeClr val="bg2">
              <a:alpha val="0"/>
            </a:schemeClr>
          </a:solidFill>
          <a:ln>
            <a:solidFill>
              <a:schemeClr val="bg2">
                <a:lumMod val="9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>
            <p:custDataLst>
              <p:tags r:id="rId8"/>
            </p:custDataLst>
          </p:nvPr>
        </p:nvSpPr>
        <p:spPr>
          <a:xfrm>
            <a:off x="7819164" y="890328"/>
            <a:ext cx="334236" cy="334236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 userDrawn="1">
            <p:custDataLst>
              <p:tags r:id="rId9"/>
            </p:custDataLst>
          </p:nvPr>
        </p:nvSpPr>
        <p:spPr>
          <a:xfrm>
            <a:off x="10137187" y="3838727"/>
            <a:ext cx="1174493" cy="1174493"/>
          </a:xfrm>
          <a:prstGeom prst="ellipse">
            <a:avLst/>
          </a:prstGeom>
          <a:gradFill>
            <a:gsLst>
              <a:gs pos="100000">
                <a:schemeClr val="accent1">
                  <a:alpha val="30000"/>
                </a:schemeClr>
              </a:gs>
              <a:gs pos="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77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 userDrawn="1">
            <p:custDataLst>
              <p:tags r:id="rId10"/>
            </p:custDataLst>
          </p:nvPr>
        </p:nvSpPr>
        <p:spPr>
          <a:xfrm>
            <a:off x="10741220" y="2120901"/>
            <a:ext cx="828798" cy="828798"/>
          </a:xfrm>
          <a:prstGeom prst="ellipse">
            <a:avLst/>
          </a:prstGeom>
          <a:gradFill>
            <a:gsLst>
              <a:gs pos="100000">
                <a:schemeClr val="accent4"/>
              </a:gs>
              <a:gs pos="52000">
                <a:schemeClr val="accent3">
                  <a:alpha val="53000"/>
                </a:schemeClr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/>
          <p:cNvSpPr/>
          <p:nvPr userDrawn="1">
            <p:custDataLst>
              <p:tags r:id="rId11"/>
            </p:custDataLst>
          </p:nvPr>
        </p:nvSpPr>
        <p:spPr>
          <a:xfrm>
            <a:off x="1054100" y="4624668"/>
            <a:ext cx="1889646" cy="54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  <a:gs pos="63000">
                <a:schemeClr val="accent3"/>
              </a:gs>
              <a:gs pos="33000">
                <a:schemeClr val="accent4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2800" b="1" dirty="0">
              <a:latin typeface="+mj-ea"/>
              <a:ea typeface="+mj-ea"/>
              <a:sym typeface="+mn-ea"/>
            </a:endParaRPr>
          </a:p>
        </p:txBody>
      </p:sp>
      <p:pic>
        <p:nvPicPr>
          <p:cNvPr id="30" name="图形 29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2700000">
            <a:off x="1360596" y="4813301"/>
            <a:ext cx="162734" cy="16273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1054102" y="1589837"/>
            <a:ext cx="6093417" cy="2294852"/>
          </a:xfrm>
        </p:spPr>
        <p:txBody>
          <a:bodyPr wrap="square" anchor="b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altLang="zh-CN" sz="4800" b="1" i="0" u="none" strike="noStrike" kern="1200" cap="none" spc="0" normalizeH="0" baseline="0" noProof="1" dirty="0">
                <a:gradFill>
                  <a:gsLst>
                    <a:gs pos="0">
                      <a:srgbClr val="FFC300"/>
                    </a:gs>
                    <a:gs pos="18000">
                      <a:srgbClr val="FD6525"/>
                    </a:gs>
                    <a:gs pos="37000">
                      <a:srgbClr val="EF155F"/>
                    </a:gs>
                    <a:gs pos="100000">
                      <a:srgbClr val="9C059C"/>
                    </a:gs>
                    <a:gs pos="63000">
                      <a:srgbClr val="B50FB5"/>
                    </a:gs>
                  </a:gsLst>
                  <a:lin ang="108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r>
              <a:rPr lang="en-US" altLang="zh-CN" dirty="0">
                <a:gradFill>
                  <a:gsLst>
                    <a:gs pos="0">
                      <a:srgbClr val="FFC300"/>
                    </a:gs>
                    <a:gs pos="18000">
                      <a:srgbClr val="FD6525"/>
                    </a:gs>
                    <a:gs pos="37000">
                      <a:srgbClr val="EF155F"/>
                    </a:gs>
                    <a:gs pos="100000">
                      <a:srgbClr val="9C059C"/>
                    </a:gs>
                    <a:gs pos="63000">
                      <a:srgbClr val="B50FB5"/>
                    </a:gs>
                  </a:gsLst>
                  <a:lin ang="1800000" scaled="0"/>
                </a:gradFill>
                <a:sym typeface="+mn-ea"/>
              </a:rPr>
              <a:t>#</a:t>
            </a:r>
            <a:r>
              <a:rPr lang="zh-CN" altLang="en-US" dirty="0">
                <a:gradFill>
                  <a:gsLst>
                    <a:gs pos="0">
                      <a:srgbClr val="FFC300"/>
                    </a:gs>
                    <a:gs pos="18000">
                      <a:srgbClr val="FD6525"/>
                    </a:gs>
                    <a:gs pos="37000">
                      <a:srgbClr val="EF155F"/>
                    </a:gs>
                    <a:gs pos="100000">
                      <a:srgbClr val="9C059C"/>
                    </a:gs>
                    <a:gs pos="63000">
                      <a:srgbClr val="B50FB5"/>
                    </a:gs>
                  </a:gsLst>
                  <a:lin ang="1800000" scaled="0"/>
                </a:gradFill>
                <a:sym typeface="+mn-ea"/>
              </a:rPr>
              <a:t>项目名称</a:t>
            </a:r>
            <a:r>
              <a:rPr lang="en-US" altLang="zh-CN" dirty="0">
                <a:gradFill>
                  <a:gsLst>
                    <a:gs pos="0">
                      <a:srgbClr val="FFC300"/>
                    </a:gs>
                    <a:gs pos="18000">
                      <a:srgbClr val="FD6525"/>
                    </a:gs>
                    <a:gs pos="37000">
                      <a:srgbClr val="EF155F"/>
                    </a:gs>
                    <a:gs pos="100000">
                      <a:srgbClr val="9C059C"/>
                    </a:gs>
                    <a:gs pos="63000">
                      <a:srgbClr val="B50FB5"/>
                    </a:gs>
                  </a:gsLst>
                  <a:lin ang="1800000" scaled="0"/>
                </a:gradFill>
                <a:sym typeface="+mn-ea"/>
              </a:rPr>
              <a:t>#</a:t>
            </a:r>
            <a:br>
              <a:rPr lang="en-US" altLang="zh-CN" dirty="0">
                <a:gradFill>
                  <a:gsLst>
                    <a:gs pos="0">
                      <a:srgbClr val="FFC300"/>
                    </a:gs>
                    <a:gs pos="18000">
                      <a:srgbClr val="FD6525"/>
                    </a:gs>
                    <a:gs pos="37000">
                      <a:srgbClr val="EF155F"/>
                    </a:gs>
                    <a:gs pos="100000">
                      <a:srgbClr val="9C059C"/>
                    </a:gs>
                    <a:gs pos="63000">
                      <a:srgbClr val="B50FB5"/>
                    </a:gs>
                  </a:gsLst>
                  <a:lin ang="1800000" scaled="0"/>
                </a:gradFill>
                <a:sym typeface="+mn-ea"/>
              </a:rPr>
            </a:br>
            <a:r>
              <a:rPr lang="zh-CN" altLang="en-US" dirty="0">
                <a:gradFill>
                  <a:gsLst>
                    <a:gs pos="0">
                      <a:srgbClr val="FFC300"/>
                    </a:gs>
                    <a:gs pos="18000">
                      <a:srgbClr val="FD6525"/>
                    </a:gs>
                    <a:gs pos="37000">
                      <a:srgbClr val="EF155F"/>
                    </a:gs>
                    <a:gs pos="100000">
                      <a:srgbClr val="9C059C"/>
                    </a:gs>
                    <a:gs pos="63000">
                      <a:srgbClr val="B50FB5"/>
                    </a:gs>
                  </a:gsLst>
                  <a:lin ang="1800000" scaled="0"/>
                </a:gradFill>
                <a:sym typeface="+mn-ea"/>
              </a:rPr>
              <a:t>项目计划书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1713688" y="4624668"/>
            <a:ext cx="2880000" cy="5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2"/>
            </a:solidFill>
          </a:ln>
          <a:effectLst>
            <a:outerShdw blurRad="101600" dist="1016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1600" b="1" dirty="0">
                <a:solidFill>
                  <a:srgbClr val="031A2F"/>
                </a:solidFill>
                <a:latin typeface="+mn-ea"/>
                <a:ea typeface="+mn-ea"/>
              </a:defRPr>
            </a:lvl1pPr>
          </a:lstStyle>
          <a:p>
            <a:pPr marL="0" lvl="0" algn="ctr"/>
            <a:r>
              <a:rPr lang="zh-CN" altLang="en-US" dirty="0"/>
              <a:t>署名</a:t>
            </a:r>
          </a:p>
        </p:txBody>
      </p:sp>
      <p:cxnSp>
        <p:nvCxnSpPr>
          <p:cNvPr id="16" name="直接连接符 15"/>
          <p:cNvCxnSpPr/>
          <p:nvPr userDrawn="1">
            <p:custDataLst>
              <p:tags r:id="rId15"/>
            </p:custDataLst>
          </p:nvPr>
        </p:nvCxnSpPr>
        <p:spPr>
          <a:xfrm>
            <a:off x="5965640" y="6605101"/>
            <a:ext cx="4644000" cy="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图形"/>
          <p:cNvSpPr txBox="1"/>
          <p:nvPr userDrawn="1">
            <p:custDataLst>
              <p:tags r:id="rId16"/>
            </p:custDataLst>
          </p:nvPr>
        </p:nvSpPr>
        <p:spPr>
          <a:xfrm>
            <a:off x="1054100" y="6456045"/>
            <a:ext cx="4815840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dist"/>
            <a:r>
              <a:rPr lang="en-US" altLang="zh-CN" sz="12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快决测-AI时代的市场调研专家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7"/>
          <p:cNvSpPr/>
          <p:nvPr userDrawn="1">
            <p:custDataLst>
              <p:tags r:id="rId1"/>
            </p:custDataLst>
          </p:nvPr>
        </p:nvSpPr>
        <p:spPr>
          <a:xfrm flipH="1">
            <a:off x="7181215" y="1510030"/>
            <a:ext cx="3465195" cy="3465195"/>
          </a:xfrm>
          <a:prstGeom prst="ellipse">
            <a:avLst/>
          </a:prstGeom>
          <a:gradFill>
            <a:gsLst>
              <a:gs pos="0">
                <a:srgbClr val="FFC300"/>
              </a:gs>
              <a:gs pos="54000">
                <a:srgbClr val="EF155F"/>
              </a:gs>
              <a:gs pos="28000">
                <a:srgbClr val="FD6525"/>
              </a:gs>
              <a:gs pos="100000">
                <a:srgbClr val="B50FB5"/>
              </a:gs>
            </a:gsLst>
            <a:lin ang="10800000" scaled="0"/>
          </a:gradFill>
          <a:ln>
            <a:noFill/>
          </a:ln>
          <a:effectLst>
            <a:softEdge rad="508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HarmonyOS Sans SC" panose="00000500000000000000" charset="-122"/>
              <a:ea typeface="HarmonyOS Sans SC" panose="00000500000000000000" charset="-122"/>
              <a:sym typeface="+mn-ea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2"/>
            </p:custDataLst>
          </p:nvPr>
        </p:nvSpPr>
        <p:spPr>
          <a:xfrm>
            <a:off x="8303260" y="2364740"/>
            <a:ext cx="3740150" cy="5210810"/>
          </a:xfrm>
          <a:custGeom>
            <a:avLst/>
            <a:gdLst>
              <a:gd name="connsiteX0" fmla="*/ 3740150 w 3740150"/>
              <a:gd name="connsiteY0" fmla="*/ 0 h 5210789"/>
              <a:gd name="connsiteX1" fmla="*/ 3740150 w 3740150"/>
              <a:gd name="connsiteY1" fmla="*/ 5210789 h 5210789"/>
              <a:gd name="connsiteX2" fmla="*/ 301051 w 3740150"/>
              <a:gd name="connsiteY2" fmla="*/ 5210789 h 5210789"/>
              <a:gd name="connsiteX3" fmla="*/ 293920 w 3740150"/>
              <a:gd name="connsiteY3" fmla="*/ 5195985 h 5210789"/>
              <a:gd name="connsiteX4" fmla="*/ 0 w 3740150"/>
              <a:gd name="connsiteY4" fmla="*/ 3740150 h 5210789"/>
              <a:gd name="connsiteX5" fmla="*/ 3740150 w 3740150"/>
              <a:gd name="connsiteY5" fmla="*/ 0 h 5210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0150" h="5210789">
                <a:moveTo>
                  <a:pt x="3740150" y="0"/>
                </a:moveTo>
                <a:lnTo>
                  <a:pt x="3740150" y="5210789"/>
                </a:lnTo>
                <a:lnTo>
                  <a:pt x="301051" y="5210789"/>
                </a:lnTo>
                <a:lnTo>
                  <a:pt x="293920" y="5195985"/>
                </a:lnTo>
                <a:cubicBezTo>
                  <a:pt x="104658" y="4748520"/>
                  <a:pt x="0" y="4256557"/>
                  <a:pt x="0" y="3740150"/>
                </a:cubicBezTo>
                <a:cubicBezTo>
                  <a:pt x="0" y="1674522"/>
                  <a:pt x="1674522" y="0"/>
                  <a:pt x="3740150" y="0"/>
                </a:cubicBezTo>
                <a:close/>
              </a:path>
            </a:pathLst>
          </a:custGeom>
          <a:gradFill flip="none" rotWithShape="1">
            <a:gsLst>
              <a:gs pos="88000">
                <a:schemeClr val="bg2"/>
              </a:gs>
              <a:gs pos="39000">
                <a:schemeClr val="bg2">
                  <a:alpha val="0"/>
                </a:schemeClr>
              </a:gs>
            </a:gsLst>
            <a:lin ang="13500000" scaled="1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320165" cy="1156335"/>
          </a:xfrm>
          <a:custGeom>
            <a:avLst/>
            <a:gdLst>
              <a:gd name="connsiteX0" fmla="*/ 0 w 1809977"/>
              <a:gd name="connsiteY0" fmla="*/ 0 h 1585549"/>
              <a:gd name="connsiteX1" fmla="*/ 1809977 w 1809977"/>
              <a:gd name="connsiteY1" fmla="*/ 0 h 1585549"/>
              <a:gd name="connsiteX2" fmla="*/ 1801326 w 1809977"/>
              <a:gd name="connsiteY2" fmla="*/ 56684 h 1585549"/>
              <a:gd name="connsiteX3" fmla="*/ 116835 w 1809977"/>
              <a:gd name="connsiteY3" fmla="*/ 1579650 h 1585549"/>
              <a:gd name="connsiteX4" fmla="*/ 0 w 1809977"/>
              <a:gd name="connsiteY4" fmla="*/ 1585549 h 1585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9977" h="1585549">
                <a:moveTo>
                  <a:pt x="0" y="0"/>
                </a:moveTo>
                <a:lnTo>
                  <a:pt x="1809977" y="0"/>
                </a:lnTo>
                <a:lnTo>
                  <a:pt x="1801326" y="56684"/>
                </a:lnTo>
                <a:cubicBezTo>
                  <a:pt x="1635100" y="869008"/>
                  <a:pt x="955821" y="1494446"/>
                  <a:pt x="116835" y="1579650"/>
                </a:cubicBezTo>
                <a:lnTo>
                  <a:pt x="0" y="1585549"/>
                </a:lnTo>
                <a:close/>
              </a:path>
            </a:pathLst>
          </a:custGeom>
          <a:gradFill flip="none" rotWithShape="1"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alpha val="3000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15">
              <a:cs typeface="微软雅黑" panose="020B0503020204020204" charset="-122"/>
            </a:endParaRPr>
          </a:p>
        </p:txBody>
      </p:sp>
      <p:sp>
        <p:nvSpPr>
          <p:cNvPr id="21" name="弧形 20"/>
          <p:cNvSpPr/>
          <p:nvPr userDrawn="1">
            <p:custDataLst>
              <p:tags r:id="rId4"/>
            </p:custDataLst>
          </p:nvPr>
        </p:nvSpPr>
        <p:spPr>
          <a:xfrm flipH="1" flipV="1">
            <a:off x="6581775" y="572770"/>
            <a:ext cx="4505325" cy="4505325"/>
          </a:xfrm>
          <a:prstGeom prst="arc">
            <a:avLst>
              <a:gd name="adj1" fmla="val 8263304"/>
              <a:gd name="adj2" fmla="val 8979118"/>
            </a:avLst>
          </a:prstGeom>
          <a:solidFill>
            <a:schemeClr val="bg2">
              <a:alpha val="0"/>
            </a:schemeClr>
          </a:solidFill>
          <a:ln>
            <a:solidFill>
              <a:schemeClr val="bg2">
                <a:lumMod val="9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015">
              <a:cs typeface="微软雅黑" panose="020B0503020204020204" charset="-122"/>
            </a:endParaRPr>
          </a:p>
        </p:txBody>
      </p:sp>
      <p:sp>
        <p:nvSpPr>
          <p:cNvPr id="26" name="椭圆 25"/>
          <p:cNvSpPr/>
          <p:nvPr userDrawn="1">
            <p:custDataLst>
              <p:tags r:id="rId5"/>
            </p:custDataLst>
          </p:nvPr>
        </p:nvSpPr>
        <p:spPr>
          <a:xfrm>
            <a:off x="7819390" y="890270"/>
            <a:ext cx="334010" cy="334010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cs typeface="微软雅黑" panose="020B0503020204020204" charset="-122"/>
            </a:endParaRPr>
          </a:p>
        </p:txBody>
      </p:sp>
      <p:sp>
        <p:nvSpPr>
          <p:cNvPr id="27" name="椭圆 26"/>
          <p:cNvSpPr/>
          <p:nvPr userDrawn="1">
            <p:custDataLst>
              <p:tags r:id="rId6"/>
            </p:custDataLst>
          </p:nvPr>
        </p:nvSpPr>
        <p:spPr>
          <a:xfrm>
            <a:off x="10137140" y="3838575"/>
            <a:ext cx="1174750" cy="1174750"/>
          </a:xfrm>
          <a:prstGeom prst="ellipse">
            <a:avLst/>
          </a:prstGeom>
          <a:gradFill>
            <a:gsLst>
              <a:gs pos="100000">
                <a:schemeClr val="accent1">
                  <a:alpha val="30000"/>
                </a:schemeClr>
              </a:gs>
              <a:gs pos="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77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cs typeface="微软雅黑" panose="020B0503020204020204" charset="-122"/>
            </a:endParaRPr>
          </a:p>
        </p:txBody>
      </p:sp>
      <p:sp>
        <p:nvSpPr>
          <p:cNvPr id="28" name="椭圆 27"/>
          <p:cNvSpPr/>
          <p:nvPr userDrawn="1">
            <p:custDataLst>
              <p:tags r:id="rId7"/>
            </p:custDataLst>
          </p:nvPr>
        </p:nvSpPr>
        <p:spPr>
          <a:xfrm>
            <a:off x="10741025" y="2120900"/>
            <a:ext cx="828675" cy="828675"/>
          </a:xfrm>
          <a:prstGeom prst="ellipse">
            <a:avLst/>
          </a:prstGeom>
          <a:gradFill>
            <a:gsLst>
              <a:gs pos="100000">
                <a:schemeClr val="accent4"/>
              </a:gs>
              <a:gs pos="52000">
                <a:schemeClr val="accent3">
                  <a:alpha val="53000"/>
                </a:schemeClr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cs typeface="微软雅黑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1040765" y="3754777"/>
            <a:ext cx="5466468" cy="2055473"/>
          </a:xfrm>
        </p:spPr>
        <p:txBody>
          <a:bodyPr wrap="square" anchor="t" anchorCtr="0">
            <a:normAutofit/>
          </a:bodyPr>
          <a:lstStyle>
            <a:lvl1pPr algn="l">
              <a:defRPr kumimoji="0" lang="en-US" altLang="zh-CN" sz="4800" b="1" i="0" u="none" strike="noStrike" kern="1200" cap="none" spc="0" normalizeH="0" baseline="0" noProof="1" dirty="0">
                <a:gradFill>
                  <a:gsLst>
                    <a:gs pos="0">
                      <a:srgbClr val="FFC300"/>
                    </a:gs>
                    <a:gs pos="18000">
                      <a:srgbClr val="FD6525"/>
                    </a:gs>
                    <a:gs pos="37000">
                      <a:srgbClr val="EF155F"/>
                    </a:gs>
                    <a:gs pos="100000">
                      <a:srgbClr val="9C059C"/>
                    </a:gs>
                    <a:gs pos="63000">
                      <a:srgbClr val="B50FB5"/>
                    </a:gs>
                  </a:gsLst>
                  <a:lin ang="18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2" name="矩形 21"/>
          <p:cNvSpPr/>
          <p:nvPr userDrawn="1">
            <p:custDataLst>
              <p:tags r:id="rId9"/>
            </p:custDataLst>
          </p:nvPr>
        </p:nvSpPr>
        <p:spPr>
          <a:xfrm>
            <a:off x="0" y="6351259"/>
            <a:ext cx="12192000" cy="50674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9000">
                <a:schemeClr val="accent3"/>
              </a:gs>
              <a:gs pos="100000">
                <a:schemeClr val="accent2"/>
              </a:gs>
              <a:gs pos="38000">
                <a:schemeClr val="accent4"/>
              </a:gs>
            </a:gsLst>
            <a:lin ang="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2800" b="1">
              <a:latin typeface="+mj-ea"/>
              <a:ea typeface="+mj-ea"/>
            </a:endParaRPr>
          </a:p>
        </p:txBody>
      </p:sp>
      <p:sp>
        <p:nvSpPr>
          <p:cNvPr id="7" name="节编号 3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965200" y="1844970"/>
            <a:ext cx="5466468" cy="1813863"/>
          </a:xfrm>
        </p:spPr>
        <p:txBody>
          <a:bodyPr wrap="none" anchor="b" anchorCtr="0">
            <a:normAutofit/>
          </a:bodyPr>
          <a:lstStyle>
            <a:lvl1pPr marL="0" indent="0" algn="l">
              <a:buNone/>
              <a:defRPr kumimoji="0" lang="en-US" altLang="zh-CN" sz="8800" b="1" i="0" u="none" strike="noStrike" kern="1200" cap="none" spc="0" normalizeH="0" baseline="0" noProof="1">
                <a:ln w="15875">
                  <a:gradFill>
                    <a:gsLst>
                      <a:gs pos="65000">
                        <a:schemeClr val="accent4"/>
                      </a:gs>
                      <a:gs pos="37000">
                        <a:schemeClr val="accent3"/>
                      </a:gs>
                      <a:gs pos="0">
                        <a:schemeClr val="accent2"/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cxnSp>
        <p:nvCxnSpPr>
          <p:cNvPr id="16" name="直接连接符 15"/>
          <p:cNvCxnSpPr/>
          <p:nvPr userDrawn="1">
            <p:custDataLst>
              <p:tags r:id="rId11"/>
            </p:custDataLst>
          </p:nvPr>
        </p:nvCxnSpPr>
        <p:spPr>
          <a:xfrm>
            <a:off x="5965640" y="6605101"/>
            <a:ext cx="4644000" cy="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图形"/>
          <p:cNvSpPr txBox="1"/>
          <p:nvPr userDrawn="1">
            <p:custDataLst>
              <p:tags r:id="rId12"/>
            </p:custDataLst>
          </p:nvPr>
        </p:nvSpPr>
        <p:spPr>
          <a:xfrm>
            <a:off x="1054100" y="6456045"/>
            <a:ext cx="4815840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dist"/>
            <a:r>
              <a:rPr lang="en-US" altLang="zh-CN" sz="12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快决测-AI时代的市场调研专家</a:t>
            </a:r>
          </a:p>
        </p:txBody>
      </p:sp>
      <p:cxnSp>
        <p:nvCxnSpPr>
          <p:cNvPr id="18" name="直接连接符 17"/>
          <p:cNvCxnSpPr/>
          <p:nvPr userDrawn="1">
            <p:custDataLst>
              <p:tags r:id="rId13"/>
            </p:custDataLst>
          </p:nvPr>
        </p:nvCxnSpPr>
        <p:spPr>
          <a:xfrm flipH="1">
            <a:off x="10945019" y="6605101"/>
            <a:ext cx="573881" cy="0"/>
          </a:xfrm>
          <a:prstGeom prst="line">
            <a:avLst/>
          </a:prstGeom>
          <a:ln w="22225" cap="rnd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 userDrawn="1"/>
        </p:nvSpPr>
        <p:spPr>
          <a:xfrm>
            <a:off x="245745" y="6436360"/>
            <a:ext cx="4064000" cy="914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>
              <a:lnSpc>
                <a:spcPct val="140000"/>
              </a:lnSpc>
            </a:pPr>
            <a:endParaRPr lang="zh-CN" altLang="en-US" sz="24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矩形: 圆角 24"/>
          <p:cNvSpPr/>
          <p:nvPr userDrawn="1">
            <p:custDataLst>
              <p:tags r:id="rId2"/>
            </p:custDataLst>
          </p:nvPr>
        </p:nvSpPr>
        <p:spPr>
          <a:xfrm>
            <a:off x="419100" y="453266"/>
            <a:ext cx="11353800" cy="5951469"/>
          </a:xfrm>
          <a:prstGeom prst="roundRect">
            <a:avLst>
              <a:gd name="adj" fmla="val 4327"/>
            </a:avLst>
          </a:prstGeom>
          <a:solidFill>
            <a:schemeClr val="bg1"/>
          </a:solidFill>
          <a:ln w="13790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148189" y="1106263"/>
            <a:ext cx="1895622" cy="808038"/>
          </a:xfrm>
        </p:spPr>
        <p:txBody>
          <a:bodyPr wrap="square" anchor="ctr" anchorCtr="0">
            <a:normAutofit/>
          </a:bodyPr>
          <a:lstStyle>
            <a:lvl1pPr algn="ctr">
              <a:defRPr sz="4800">
                <a:gradFill>
                  <a:gsLst>
                    <a:gs pos="100000">
                      <a:schemeClr val="accent1"/>
                    </a:gs>
                    <a:gs pos="66000">
                      <a:schemeClr val="accent4"/>
                    </a:gs>
                    <a:gs pos="32000">
                      <a:schemeClr val="accent3"/>
                    </a:gs>
                    <a:gs pos="0">
                      <a:schemeClr val="accent2"/>
                    </a:gs>
                  </a:gsLst>
                  <a:lin ang="10800000" scaled="0"/>
                </a:gra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22" name="矩形 21"/>
          <p:cNvSpPr/>
          <p:nvPr userDrawn="1">
            <p:custDataLst>
              <p:tags r:id="rId4"/>
            </p:custDataLst>
          </p:nvPr>
        </p:nvSpPr>
        <p:spPr>
          <a:xfrm>
            <a:off x="0" y="6722110"/>
            <a:ext cx="12192000" cy="13589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9000">
                <a:schemeClr val="accent3"/>
              </a:gs>
              <a:gs pos="100000">
                <a:schemeClr val="accent2"/>
              </a:gs>
              <a:gs pos="38000">
                <a:schemeClr val="accent4"/>
              </a:gs>
            </a:gsLst>
            <a:lin ang="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2800" b="1"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正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 userDrawn="1">
            <p:custDataLst>
              <p:tags r:id="rId1"/>
            </p:custDataLst>
          </p:nvPr>
        </p:nvSpPr>
        <p:spPr>
          <a:xfrm>
            <a:off x="0" y="6722110"/>
            <a:ext cx="12192000" cy="13589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9000">
                <a:schemeClr val="accent3"/>
              </a:gs>
              <a:gs pos="100000">
                <a:schemeClr val="accent2"/>
              </a:gs>
              <a:gs pos="38000">
                <a:schemeClr val="accent4"/>
              </a:gs>
            </a:gsLst>
            <a:lin ang="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2800" b="1">
              <a:latin typeface="+mj-ea"/>
              <a:ea typeface="+mj-ea"/>
            </a:endParaRPr>
          </a:p>
        </p:txBody>
      </p:sp>
      <p:sp>
        <p:nvSpPr>
          <p:cNvPr id="46" name="序号"/>
          <p:cNvSpPr/>
          <p:nvPr userDrawn="1">
            <p:custDataLst>
              <p:tags r:id="rId2"/>
            </p:custDataLst>
          </p:nvPr>
        </p:nvSpPr>
        <p:spPr>
          <a:xfrm>
            <a:off x="487680" y="379095"/>
            <a:ext cx="324485" cy="324485"/>
          </a:xfrm>
          <a:prstGeom prst="ellipse">
            <a:avLst/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  <a:gs pos="63000">
                <a:schemeClr val="accent3"/>
              </a:gs>
              <a:gs pos="33000">
                <a:schemeClr val="accent4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lvl="0"/>
          </a:lstStyle>
          <a:p>
            <a:pPr lvl="0" algn="ctr">
              <a:buClrTx/>
              <a:buSzTx/>
              <a:buFontTx/>
            </a:pPr>
            <a:endParaRPr lang="en-US" altLang="zh-CN" sz="2400" b="1" dirty="0">
              <a:latin typeface="+mj-ea"/>
              <a:ea typeface="+mj-ea"/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956945" y="299085"/>
            <a:ext cx="9599295" cy="48450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样本设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 userDrawn="1">
            <p:custDataLst>
              <p:tags r:id="rId1"/>
            </p:custDataLst>
          </p:nvPr>
        </p:nvSpPr>
        <p:spPr>
          <a:xfrm>
            <a:off x="0" y="6722110"/>
            <a:ext cx="12192000" cy="13589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9000">
                <a:schemeClr val="accent3"/>
              </a:gs>
              <a:gs pos="100000">
                <a:schemeClr val="accent2"/>
              </a:gs>
              <a:gs pos="38000">
                <a:schemeClr val="accent4"/>
              </a:gs>
            </a:gsLst>
            <a:lin ang="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2800" b="1">
              <a:latin typeface="+mj-ea"/>
              <a:ea typeface="+mj-ea"/>
            </a:endParaRPr>
          </a:p>
        </p:txBody>
      </p:sp>
      <p:sp>
        <p:nvSpPr>
          <p:cNvPr id="46" name="序号"/>
          <p:cNvSpPr/>
          <p:nvPr userDrawn="1">
            <p:custDataLst>
              <p:tags r:id="rId2"/>
            </p:custDataLst>
          </p:nvPr>
        </p:nvSpPr>
        <p:spPr>
          <a:xfrm>
            <a:off x="487680" y="379095"/>
            <a:ext cx="324485" cy="324485"/>
          </a:xfrm>
          <a:prstGeom prst="ellipse">
            <a:avLst/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  <a:gs pos="63000">
                <a:schemeClr val="accent3"/>
              </a:gs>
              <a:gs pos="33000">
                <a:schemeClr val="accent4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lvl="0"/>
          </a:lstStyle>
          <a:p>
            <a:pPr lvl="0" algn="ctr">
              <a:buClrTx/>
              <a:buSzTx/>
              <a:buFontTx/>
            </a:pPr>
            <a:endParaRPr lang="en-US" altLang="zh-CN" sz="2400" b="1" dirty="0">
              <a:latin typeface="+mj-ea"/>
              <a:ea typeface="+mj-ea"/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956945" y="299085"/>
            <a:ext cx="9599295" cy="48450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圆角矩形 34">
            <a:extLst>
              <a:ext uri="{FF2B5EF4-FFF2-40B4-BE49-F238E27FC236}">
                <a16:creationId xmlns:a16="http://schemas.microsoft.com/office/drawing/2014/main" id="{97FF71C4-1A70-EF3E-3A5F-69CD366B9038}"/>
              </a:ext>
            </a:extLst>
          </p:cNvPr>
          <p:cNvSpPr/>
          <p:nvPr userDrawn="1"/>
        </p:nvSpPr>
        <p:spPr>
          <a:xfrm>
            <a:off x="487396" y="995556"/>
            <a:ext cx="1043526" cy="54000"/>
          </a:xfrm>
          <a:prstGeom prst="roundRect">
            <a:avLst>
              <a:gd name="adj" fmla="val 48101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70000">
                <a:schemeClr val="accent3">
                  <a:alpha val="30000"/>
                </a:schemeClr>
              </a:gs>
              <a:gs pos="36000">
                <a:schemeClr val="accent4">
                  <a:alpha val="50000"/>
                </a:schemeClr>
              </a:gs>
              <a:gs pos="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4" name="表格 15">
            <a:extLst>
              <a:ext uri="{FF2B5EF4-FFF2-40B4-BE49-F238E27FC236}">
                <a16:creationId xmlns:a16="http://schemas.microsoft.com/office/drawing/2014/main" id="{D452673C-55C7-60E4-BF22-FCF10B2F1EF5}"/>
              </a:ext>
            </a:extLst>
          </p:cNvPr>
          <p:cNvGraphicFramePr>
            <a:graphicFrameLocks noGrp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39203190"/>
              </p:ext>
            </p:extLst>
          </p:nvPr>
        </p:nvGraphicFramePr>
        <p:xfrm>
          <a:off x="482600" y="1201677"/>
          <a:ext cx="11237595" cy="510222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89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4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1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armonyOS Sans SC Black" panose="00000A00000000000000" charset="-122"/>
                          <a:ea typeface="HarmonyOS Sans SC Black" panose="00000A00000000000000" charset="-122"/>
                          <a:cs typeface="HarmonyOS Sans SC Black" panose="00000A00000000000000" charset="-122"/>
                        </a:rPr>
                        <a:t>  </a:t>
                      </a:r>
                      <a:r>
                        <a:rPr kumimoji="0" lang="zh-CN" altLang="en-US" sz="1400" b="1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armonyOS Sans SC Black" panose="00000A00000000000000" charset="-122"/>
                          <a:ea typeface="HarmonyOS Sans SC Black" panose="00000A00000000000000" charset="-122"/>
                          <a:cs typeface="HarmonyOS Sans SC Black" panose="00000A00000000000000" charset="-122"/>
                        </a:rPr>
                        <a:t>研究方式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rPr>
                        <a:t>#</a:t>
                      </a:r>
                      <a:r>
                        <a:rPr kumimoji="0" lang="zh-CN" altLang="en-US" sz="1400" b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rPr>
                        <a:t>研究方式</a:t>
                      </a:r>
                      <a:r>
                        <a:rPr kumimoji="0" lang="en-US" altLang="zh-CN" sz="1400" b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rPr>
                        <a:t>#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02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1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armonyOS Sans SC Black" panose="00000A00000000000000" charset="-122"/>
                          <a:ea typeface="HarmonyOS Sans SC Black" panose="00000A00000000000000" charset="-122"/>
                          <a:cs typeface="HarmonyOS Sans SC Black" panose="00000A00000000000000" charset="-122"/>
                        </a:rPr>
                        <a:t>  </a:t>
                      </a:r>
                      <a:r>
                        <a:rPr kumimoji="0" lang="zh-CN" altLang="en-US" sz="1400" b="1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armonyOS Sans SC Black" panose="00000A00000000000000" charset="-122"/>
                          <a:ea typeface="HarmonyOS Sans SC Black" panose="00000A00000000000000" charset="-122"/>
                          <a:cs typeface="HarmonyOS Sans SC Black" panose="00000A00000000000000" charset="-122"/>
                        </a:rPr>
                        <a:t>样本条件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rPr>
                        <a:t>#</a:t>
                      </a:r>
                      <a:r>
                        <a:rPr kumimoji="0" lang="zh-CN" altLang="en-US" sz="1400" b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rPr>
                        <a:t>样本设计</a:t>
                      </a:r>
                      <a:r>
                        <a:rPr kumimoji="0" lang="en-US" altLang="zh-CN" sz="1400" b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rPr>
                        <a:t>#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1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armonyOS Sans SC Black" panose="00000A00000000000000" charset="-122"/>
                          <a:ea typeface="HarmonyOS Sans SC Black" panose="00000A00000000000000" charset="-122"/>
                          <a:cs typeface="HarmonyOS Sans SC Black" panose="00000A00000000000000" charset="-122"/>
                        </a:rPr>
                        <a:t>  </a:t>
                      </a:r>
                      <a:r>
                        <a:rPr kumimoji="0" lang="zh-CN" altLang="en-US" sz="1400" b="1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armonyOS Sans SC Black" panose="00000A00000000000000" charset="-122"/>
                          <a:ea typeface="HarmonyOS Sans SC Black" panose="00000A00000000000000" charset="-122"/>
                          <a:cs typeface="HarmonyOS Sans SC Black" panose="00000A00000000000000" charset="-122"/>
                        </a:rPr>
                        <a:t>总样本量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altLang="zh-CN" sz="1400" kern="100" dirty="0">
                          <a:ea typeface="HarmonyOS Sans SC" panose="00000500000000000000" charset="-122"/>
                        </a:rPr>
                        <a:t>#</a:t>
                      </a:r>
                      <a:r>
                        <a:rPr lang="zh-CN" altLang="en-US" sz="1400" kern="100" dirty="0">
                          <a:ea typeface="HarmonyOS Sans SC" panose="00000500000000000000" charset="-122"/>
                        </a:rPr>
                        <a:t>总样本量</a:t>
                      </a:r>
                      <a:r>
                        <a:rPr lang="en-US" altLang="zh-CN" sz="1400" kern="100" dirty="0">
                          <a:ea typeface="HarmonyOS Sans SC" panose="00000500000000000000" charset="-122"/>
                        </a:rPr>
                        <a:t>#</a:t>
                      </a:r>
                      <a:endParaRPr lang="zh-CN" altLang="en-US" sz="1400" kern="100" dirty="0">
                        <a:ea typeface="HarmonyOS Sans SC" panose="00000500000000000000" charset="-122"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515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27749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5543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83185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10871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138620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166370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194056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22180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400" b="1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armonyOS Sans SC Black" panose="00000A00000000000000" charset="-122"/>
                          <a:ea typeface="HarmonyOS Sans SC Black" panose="00000A00000000000000" charset="-122"/>
                          <a:cs typeface="HarmonyOS Sans SC Black" panose="00000A00000000000000" charset="-122"/>
                        </a:rPr>
                        <a:t>  调研长度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27749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5543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83185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10871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138620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166370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194056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22180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00" dirty="0">
                          <a:ea typeface="HarmonyOS Sans SC" panose="00000500000000000000" charset="-122"/>
                        </a:rPr>
                        <a:t>#</a:t>
                      </a:r>
                      <a:r>
                        <a:rPr lang="zh-CN" altLang="en-US" sz="1400" kern="100" dirty="0">
                          <a:ea typeface="HarmonyOS Sans SC" panose="00000500000000000000" charset="-122"/>
                        </a:rPr>
                        <a:t>调研过程时长</a:t>
                      </a:r>
                      <a:r>
                        <a:rPr lang="en-US" altLang="zh-CN" sz="1400" kern="100" dirty="0">
                          <a:ea typeface="HarmonyOS Sans SC" panose="00000500000000000000" charset="-122"/>
                        </a:rPr>
                        <a:t>#</a:t>
                      </a:r>
                      <a:endParaRPr lang="zh-CN" altLang="en-US" sz="1400" kern="100" dirty="0">
                        <a:ea typeface="HarmonyOS Sans SC" panose="00000500000000000000" charset="-122"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890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项目背景&amp;目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 userDrawn="1">
            <p:custDataLst>
              <p:tags r:id="rId1"/>
            </p:custDataLst>
          </p:nvPr>
        </p:nvSpPr>
        <p:spPr>
          <a:xfrm>
            <a:off x="0" y="6722110"/>
            <a:ext cx="12192000" cy="13589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9000">
                <a:schemeClr val="accent3"/>
              </a:gs>
              <a:gs pos="100000">
                <a:schemeClr val="accent2"/>
              </a:gs>
              <a:gs pos="38000">
                <a:schemeClr val="accent4"/>
              </a:gs>
            </a:gsLst>
            <a:lin ang="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2800" b="1">
              <a:latin typeface="+mj-ea"/>
              <a:ea typeface="+mj-ea"/>
            </a:endParaRPr>
          </a:p>
        </p:txBody>
      </p:sp>
      <p:sp>
        <p:nvSpPr>
          <p:cNvPr id="46" name="序号"/>
          <p:cNvSpPr/>
          <p:nvPr userDrawn="1">
            <p:custDataLst>
              <p:tags r:id="rId2"/>
            </p:custDataLst>
          </p:nvPr>
        </p:nvSpPr>
        <p:spPr>
          <a:xfrm>
            <a:off x="487680" y="379095"/>
            <a:ext cx="324485" cy="324485"/>
          </a:xfrm>
          <a:prstGeom prst="ellipse">
            <a:avLst/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  <a:gs pos="63000">
                <a:schemeClr val="accent3"/>
              </a:gs>
              <a:gs pos="33000">
                <a:schemeClr val="accent4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lvl="0"/>
          </a:lstStyle>
          <a:p>
            <a:pPr lvl="0" algn="ctr">
              <a:buClrTx/>
              <a:buSzTx/>
              <a:buFontTx/>
            </a:pPr>
            <a:endParaRPr lang="en-US" altLang="zh-CN" sz="2400" b="1" dirty="0">
              <a:latin typeface="+mj-ea"/>
              <a:ea typeface="+mj-ea"/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956945" y="299085"/>
            <a:ext cx="9599295" cy="48450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圆角矩形 19">
            <a:extLst>
              <a:ext uri="{FF2B5EF4-FFF2-40B4-BE49-F238E27FC236}">
                <a16:creationId xmlns:a16="http://schemas.microsoft.com/office/drawing/2014/main" id="{FB935E30-3D20-0C78-D7C5-34A21E08D61D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6926580" y="1225550"/>
            <a:ext cx="4775835" cy="5090795"/>
          </a:xfrm>
          <a:prstGeom prst="roundRect">
            <a:avLst>
              <a:gd name="adj" fmla="val 1585"/>
            </a:avLst>
          </a:prstGeom>
          <a:solidFill>
            <a:schemeClr val="lt1"/>
          </a:solidFill>
          <a:ln w="3175" cap="flat" cmpd="sng" algn="ctr">
            <a:solidFill>
              <a:schemeClr val="accent1">
                <a:lumMod val="10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4" name="圆角矩形 24">
            <a:extLst>
              <a:ext uri="{FF2B5EF4-FFF2-40B4-BE49-F238E27FC236}">
                <a16:creationId xmlns:a16="http://schemas.microsoft.com/office/drawing/2014/main" id="{86E145DF-9212-1B18-F1E1-734B65FF0EDD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866140" y="1225550"/>
            <a:ext cx="4532630" cy="5090795"/>
          </a:xfrm>
          <a:prstGeom prst="roundRect">
            <a:avLst>
              <a:gd name="adj" fmla="val 1585"/>
            </a:avLst>
          </a:prstGeom>
          <a:solidFill>
            <a:schemeClr val="lt1"/>
          </a:solidFill>
          <a:ln w="3175" cap="flat" cmpd="sng" algn="ctr">
            <a:solidFill>
              <a:schemeClr val="accent1">
                <a:lumMod val="10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5" name="圆角矩形 22">
            <a:extLst>
              <a:ext uri="{FF2B5EF4-FFF2-40B4-BE49-F238E27FC236}">
                <a16:creationId xmlns:a16="http://schemas.microsoft.com/office/drawing/2014/main" id="{83F34888-C6AD-61D5-B047-B4D5B4C3695E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7230110" y="1706245"/>
            <a:ext cx="1002030" cy="53975"/>
          </a:xfrm>
          <a:prstGeom prst="roundRect">
            <a:avLst>
              <a:gd name="adj" fmla="val 48101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70000">
                <a:schemeClr val="accent3">
                  <a:alpha val="30000"/>
                </a:schemeClr>
              </a:gs>
              <a:gs pos="36000">
                <a:schemeClr val="accent4">
                  <a:alpha val="50000"/>
                </a:schemeClr>
              </a:gs>
              <a:gs pos="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6" name="圆角矩形 32">
            <a:extLst>
              <a:ext uri="{FF2B5EF4-FFF2-40B4-BE49-F238E27FC236}">
                <a16:creationId xmlns:a16="http://schemas.microsoft.com/office/drawing/2014/main" id="{EA9A4FB9-34B1-067C-1FEE-541751F45C69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1082040" y="1706245"/>
            <a:ext cx="1347470" cy="76200"/>
          </a:xfrm>
          <a:prstGeom prst="roundRect">
            <a:avLst>
              <a:gd name="adj" fmla="val 48101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70000">
                <a:schemeClr val="accent3">
                  <a:alpha val="30000"/>
                </a:schemeClr>
              </a:gs>
              <a:gs pos="36000">
                <a:schemeClr val="accent4">
                  <a:alpha val="50000"/>
                </a:schemeClr>
              </a:gs>
              <a:gs pos="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5CDD05-4586-6F86-552B-61DB0181B926}"/>
              </a:ext>
            </a:extLst>
          </p:cNvPr>
          <p:cNvSpPr txBox="1"/>
          <p:nvPr userDrawn="1"/>
        </p:nvSpPr>
        <p:spPr>
          <a:xfrm>
            <a:off x="1082040" y="1851024"/>
            <a:ext cx="4132756" cy="429069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70000"/>
              </a:lnSpc>
              <a:spcAft>
                <a:spcPts val="800"/>
              </a:spcAft>
            </a:pPr>
            <a:r>
              <a:rPr kumimoji="1" lang="en-US" altLang="zh-CN" sz="1400" dirty="0">
                <a:solidFill>
                  <a:srgbClr val="696B70"/>
                </a:solidFill>
                <a:latin typeface="微软雅黑" panose="020B0503020204020204" charset="-122"/>
                <a:ea typeface="微软雅黑" panose="020B0503020204020204" charset="-122"/>
              </a:rPr>
              <a:t>#</a:t>
            </a:r>
            <a:r>
              <a:rPr kumimoji="1" lang="zh-CN" altLang="en-US" sz="1400" dirty="0">
                <a:solidFill>
                  <a:srgbClr val="696B70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r>
              <a:rPr kumimoji="1" lang="en-US" altLang="zh-CN" sz="1400" dirty="0">
                <a:solidFill>
                  <a:srgbClr val="696B70"/>
                </a:solidFill>
                <a:latin typeface="微软雅黑" panose="020B0503020204020204" charset="-122"/>
                <a:ea typeface="微软雅黑" panose="020B0503020204020204" charset="-122"/>
              </a:rPr>
              <a:t>#</a:t>
            </a:r>
            <a:endParaRPr kumimoji="1" lang="zh-CN" altLang="en-US" sz="1400" dirty="0">
              <a:solidFill>
                <a:srgbClr val="696B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766787-EA80-C927-A8F7-560B63E69F71}"/>
              </a:ext>
            </a:extLst>
          </p:cNvPr>
          <p:cNvSpPr txBox="1"/>
          <p:nvPr userDrawn="1"/>
        </p:nvSpPr>
        <p:spPr>
          <a:xfrm>
            <a:off x="7128247" y="1912620"/>
            <a:ext cx="4398908" cy="429069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kumimoji="1" lang="en-US" altLang="zh-CN" sz="1400" dirty="0">
                <a:solidFill>
                  <a:srgbClr val="696B7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</a:t>
            </a:r>
            <a:r>
              <a:rPr kumimoji="1" lang="zh-CN" altLang="en-US" sz="1400" dirty="0">
                <a:solidFill>
                  <a:srgbClr val="696B7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研究目的</a:t>
            </a:r>
            <a:r>
              <a:rPr kumimoji="1" lang="en-US" altLang="zh-CN" sz="1400" dirty="0">
                <a:solidFill>
                  <a:srgbClr val="696B7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</a:t>
            </a:r>
            <a:endParaRPr kumimoji="1" lang="zh-CN" altLang="en-US" sz="1400" dirty="0">
              <a:solidFill>
                <a:srgbClr val="696B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568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任意多边形: 形状 7"/>
          <p:cNvSpPr/>
          <p:nvPr userDrawn="1">
            <p:custDataLst>
              <p:tags r:id="rId2"/>
            </p:custDataLst>
          </p:nvPr>
        </p:nvSpPr>
        <p:spPr>
          <a:xfrm flipH="1">
            <a:off x="7181215" y="1510030"/>
            <a:ext cx="3465195" cy="3465195"/>
          </a:xfrm>
          <a:prstGeom prst="ellipse">
            <a:avLst/>
          </a:prstGeom>
          <a:gradFill>
            <a:gsLst>
              <a:gs pos="0">
                <a:srgbClr val="FFC300"/>
              </a:gs>
              <a:gs pos="54000">
                <a:srgbClr val="EF155F"/>
              </a:gs>
              <a:gs pos="28000">
                <a:srgbClr val="FD6525"/>
              </a:gs>
              <a:gs pos="100000">
                <a:srgbClr val="B50FB5"/>
              </a:gs>
            </a:gsLst>
            <a:lin ang="10800000" scaled="0"/>
          </a:gradFill>
          <a:ln>
            <a:noFill/>
          </a:ln>
          <a:effectLst>
            <a:softEdge rad="508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HarmonyOS Sans SC" panose="00000500000000000000" charset="-122"/>
              <a:ea typeface="HarmonyOS Sans SC" panose="00000500000000000000" charset="-122"/>
              <a:sym typeface="+mn-ea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3"/>
            </p:custDataLst>
          </p:nvPr>
        </p:nvSpPr>
        <p:spPr>
          <a:xfrm>
            <a:off x="8303260" y="2365052"/>
            <a:ext cx="3740150" cy="5210789"/>
          </a:xfrm>
          <a:custGeom>
            <a:avLst/>
            <a:gdLst>
              <a:gd name="connsiteX0" fmla="*/ 3740150 w 3740150"/>
              <a:gd name="connsiteY0" fmla="*/ 0 h 5210789"/>
              <a:gd name="connsiteX1" fmla="*/ 3740150 w 3740150"/>
              <a:gd name="connsiteY1" fmla="*/ 5210789 h 5210789"/>
              <a:gd name="connsiteX2" fmla="*/ 301051 w 3740150"/>
              <a:gd name="connsiteY2" fmla="*/ 5210789 h 5210789"/>
              <a:gd name="connsiteX3" fmla="*/ 293920 w 3740150"/>
              <a:gd name="connsiteY3" fmla="*/ 5195985 h 5210789"/>
              <a:gd name="connsiteX4" fmla="*/ 0 w 3740150"/>
              <a:gd name="connsiteY4" fmla="*/ 3740150 h 5210789"/>
              <a:gd name="connsiteX5" fmla="*/ 3740150 w 3740150"/>
              <a:gd name="connsiteY5" fmla="*/ 0 h 5210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0150" h="5210789">
                <a:moveTo>
                  <a:pt x="3740150" y="0"/>
                </a:moveTo>
                <a:lnTo>
                  <a:pt x="3740150" y="5210789"/>
                </a:lnTo>
                <a:lnTo>
                  <a:pt x="301051" y="5210789"/>
                </a:lnTo>
                <a:lnTo>
                  <a:pt x="293920" y="5195985"/>
                </a:lnTo>
                <a:cubicBezTo>
                  <a:pt x="104658" y="4748520"/>
                  <a:pt x="0" y="4256557"/>
                  <a:pt x="0" y="3740150"/>
                </a:cubicBezTo>
                <a:cubicBezTo>
                  <a:pt x="0" y="1674522"/>
                  <a:pt x="1674522" y="0"/>
                  <a:pt x="3740150" y="0"/>
                </a:cubicBezTo>
                <a:close/>
              </a:path>
            </a:pathLst>
          </a:custGeom>
          <a:gradFill flip="none" rotWithShape="1">
            <a:gsLst>
              <a:gs pos="88000">
                <a:schemeClr val="bg2"/>
              </a:gs>
              <a:gs pos="39000">
                <a:schemeClr val="bg2">
                  <a:alpha val="0"/>
                </a:schemeClr>
              </a:gs>
            </a:gsLst>
            <a:lin ang="13500000" scaled="1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 userDrawn="1">
            <p:custDataLst>
              <p:tags r:id="rId4"/>
            </p:custDataLst>
          </p:nvPr>
        </p:nvSpPr>
        <p:spPr>
          <a:xfrm>
            <a:off x="0" y="6351259"/>
            <a:ext cx="12192000" cy="50674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9000">
                <a:schemeClr val="accent3"/>
              </a:gs>
              <a:gs pos="100000">
                <a:schemeClr val="accent2"/>
              </a:gs>
              <a:gs pos="38000">
                <a:schemeClr val="accent4"/>
              </a:gs>
            </a:gsLst>
            <a:lin ang="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5"/>
            </p:custDataLst>
          </p:nvPr>
        </p:nvSpPr>
        <p:spPr>
          <a:xfrm>
            <a:off x="1" y="1"/>
            <a:ext cx="1320207" cy="1156508"/>
          </a:xfrm>
          <a:custGeom>
            <a:avLst/>
            <a:gdLst>
              <a:gd name="connsiteX0" fmla="*/ 0 w 1809977"/>
              <a:gd name="connsiteY0" fmla="*/ 0 h 1585549"/>
              <a:gd name="connsiteX1" fmla="*/ 1809977 w 1809977"/>
              <a:gd name="connsiteY1" fmla="*/ 0 h 1585549"/>
              <a:gd name="connsiteX2" fmla="*/ 1801326 w 1809977"/>
              <a:gd name="connsiteY2" fmla="*/ 56684 h 1585549"/>
              <a:gd name="connsiteX3" fmla="*/ 116835 w 1809977"/>
              <a:gd name="connsiteY3" fmla="*/ 1579650 h 1585549"/>
              <a:gd name="connsiteX4" fmla="*/ 0 w 1809977"/>
              <a:gd name="connsiteY4" fmla="*/ 1585549 h 1585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9977" h="1585549">
                <a:moveTo>
                  <a:pt x="0" y="0"/>
                </a:moveTo>
                <a:lnTo>
                  <a:pt x="1809977" y="0"/>
                </a:lnTo>
                <a:lnTo>
                  <a:pt x="1801326" y="56684"/>
                </a:lnTo>
                <a:cubicBezTo>
                  <a:pt x="1635100" y="869008"/>
                  <a:pt x="955821" y="1494446"/>
                  <a:pt x="116835" y="1579650"/>
                </a:cubicBezTo>
                <a:lnTo>
                  <a:pt x="0" y="1585549"/>
                </a:lnTo>
                <a:close/>
              </a:path>
            </a:pathLst>
          </a:custGeom>
          <a:gradFill flip="none" rotWithShape="1"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alpha val="3000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弧形 20"/>
          <p:cNvSpPr/>
          <p:nvPr userDrawn="1">
            <p:custDataLst>
              <p:tags r:id="rId6"/>
            </p:custDataLst>
          </p:nvPr>
        </p:nvSpPr>
        <p:spPr>
          <a:xfrm flipH="1" flipV="1">
            <a:off x="6581827" y="572963"/>
            <a:ext cx="4505466" cy="4505466"/>
          </a:xfrm>
          <a:prstGeom prst="arc">
            <a:avLst>
              <a:gd name="adj1" fmla="val 8263304"/>
              <a:gd name="adj2" fmla="val 8979118"/>
            </a:avLst>
          </a:prstGeom>
          <a:solidFill>
            <a:schemeClr val="bg2">
              <a:alpha val="0"/>
            </a:schemeClr>
          </a:solidFill>
          <a:ln>
            <a:solidFill>
              <a:schemeClr val="bg2">
                <a:lumMod val="9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>
            <p:custDataLst>
              <p:tags r:id="rId7"/>
            </p:custDataLst>
          </p:nvPr>
        </p:nvSpPr>
        <p:spPr>
          <a:xfrm>
            <a:off x="7819164" y="890328"/>
            <a:ext cx="334236" cy="334236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 userDrawn="1">
            <p:custDataLst>
              <p:tags r:id="rId8"/>
            </p:custDataLst>
          </p:nvPr>
        </p:nvSpPr>
        <p:spPr>
          <a:xfrm>
            <a:off x="10137187" y="3838727"/>
            <a:ext cx="1174493" cy="1174493"/>
          </a:xfrm>
          <a:prstGeom prst="ellipse">
            <a:avLst/>
          </a:prstGeom>
          <a:gradFill>
            <a:gsLst>
              <a:gs pos="100000">
                <a:schemeClr val="accent1">
                  <a:alpha val="30000"/>
                </a:schemeClr>
              </a:gs>
              <a:gs pos="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77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 userDrawn="1">
            <p:custDataLst>
              <p:tags r:id="rId9"/>
            </p:custDataLst>
          </p:nvPr>
        </p:nvSpPr>
        <p:spPr>
          <a:xfrm>
            <a:off x="10741220" y="2120901"/>
            <a:ext cx="828798" cy="828798"/>
          </a:xfrm>
          <a:prstGeom prst="ellipse">
            <a:avLst/>
          </a:prstGeom>
          <a:gradFill>
            <a:gsLst>
              <a:gs pos="100000">
                <a:schemeClr val="accent4"/>
              </a:gs>
              <a:gs pos="52000">
                <a:schemeClr val="accent3">
                  <a:alpha val="53000"/>
                </a:schemeClr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图形"/>
          <p:cNvSpPr txBox="1"/>
          <p:nvPr userDrawn="1">
            <p:custDataLst>
              <p:tags r:id="rId10"/>
            </p:custDataLst>
          </p:nvPr>
        </p:nvSpPr>
        <p:spPr>
          <a:xfrm>
            <a:off x="1054100" y="6456045"/>
            <a:ext cx="4815840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dist"/>
            <a:r>
              <a:rPr lang="en-US" altLang="zh-CN" sz="12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快决测-AI时代的市场调研专家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1"/>
            </p:custDataLst>
          </p:nvPr>
        </p:nvSpPr>
        <p:spPr>
          <a:xfrm>
            <a:off x="1054102" y="1589837"/>
            <a:ext cx="6093417" cy="2294852"/>
          </a:xfrm>
        </p:spPr>
        <p:txBody>
          <a:bodyPr wrap="square" anchor="b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altLang="zh-CN" sz="4800" b="1" i="0" u="none" strike="noStrike" kern="1200" cap="none" spc="0" normalizeH="0" baseline="0" noProof="1" dirty="0">
                <a:gradFill>
                  <a:gsLst>
                    <a:gs pos="0">
                      <a:srgbClr val="FFC300"/>
                    </a:gs>
                    <a:gs pos="18000">
                      <a:srgbClr val="FD6525"/>
                    </a:gs>
                    <a:gs pos="37000">
                      <a:srgbClr val="EF155F"/>
                    </a:gs>
                    <a:gs pos="100000">
                      <a:srgbClr val="9C059C"/>
                    </a:gs>
                    <a:gs pos="63000">
                      <a:srgbClr val="B50FB5"/>
                    </a:gs>
                  </a:gsLst>
                  <a:lin ang="108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16" name="直接连接符 15"/>
          <p:cNvCxnSpPr/>
          <p:nvPr userDrawn="1">
            <p:custDataLst>
              <p:tags r:id="rId12"/>
            </p:custDataLst>
          </p:nvPr>
        </p:nvCxnSpPr>
        <p:spPr>
          <a:xfrm>
            <a:off x="5965640" y="6605101"/>
            <a:ext cx="4644000" cy="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5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4.xml"/><Relationship Id="rId17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7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openxmlformats.org/officeDocument/2006/relationships/tags" Target="../tags/tag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:/Users/QDTech/Desktop/图片1.jpg图片1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8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矩形 21"/>
          <p:cNvSpPr/>
          <p:nvPr userDrawn="1">
            <p:custDataLst>
              <p:tags r:id="rId11"/>
            </p:custDataLst>
          </p:nvPr>
        </p:nvSpPr>
        <p:spPr>
          <a:xfrm>
            <a:off x="0" y="6351259"/>
            <a:ext cx="12192000" cy="50674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9000">
                <a:schemeClr val="accent3"/>
              </a:gs>
              <a:gs pos="100000">
                <a:schemeClr val="accent2"/>
              </a:gs>
              <a:gs pos="38000">
                <a:schemeClr val="accent4"/>
              </a:gs>
            </a:gsLst>
            <a:lin ang="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2800" b="1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10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6" r:id="rId4"/>
    <p:sldLayoutId id="2147483662" r:id="rId5"/>
    <p:sldLayoutId id="2147483661" r:id="rId6"/>
    <p:sldLayoutId id="2147483659" r:id="rId7"/>
    <p:sldLayoutId id="2147483660" r:id="rId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tags" Target="../tags/tag82.xml"/><Relationship Id="rId18" Type="http://schemas.openxmlformats.org/officeDocument/2006/relationships/tags" Target="../tags/tag87.xml"/><Relationship Id="rId3" Type="http://schemas.openxmlformats.org/officeDocument/2006/relationships/tags" Target="../tags/tag72.xml"/><Relationship Id="rId21" Type="http://schemas.openxmlformats.org/officeDocument/2006/relationships/notesSlide" Target="../notesSlides/notesSlide1.xml"/><Relationship Id="rId7" Type="http://schemas.openxmlformats.org/officeDocument/2006/relationships/tags" Target="../tags/tag76.xml"/><Relationship Id="rId12" Type="http://schemas.openxmlformats.org/officeDocument/2006/relationships/tags" Target="../tags/tag81.xml"/><Relationship Id="rId17" Type="http://schemas.openxmlformats.org/officeDocument/2006/relationships/tags" Target="../tags/tag86.xml"/><Relationship Id="rId2" Type="http://schemas.openxmlformats.org/officeDocument/2006/relationships/tags" Target="../tags/tag71.xml"/><Relationship Id="rId16" Type="http://schemas.openxmlformats.org/officeDocument/2006/relationships/tags" Target="../tags/tag85.xml"/><Relationship Id="rId20" Type="http://schemas.openxmlformats.org/officeDocument/2006/relationships/slideLayout" Target="../slideLayouts/slideLayout3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5" Type="http://schemas.openxmlformats.org/officeDocument/2006/relationships/tags" Target="../tags/tag84.xml"/><Relationship Id="rId10" Type="http://schemas.openxmlformats.org/officeDocument/2006/relationships/tags" Target="../tags/tag79.xml"/><Relationship Id="rId19" Type="http://schemas.openxmlformats.org/officeDocument/2006/relationships/tags" Target="../tags/tag88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tags" Target="../tags/tag83.xml"/><Relationship Id="rId22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image" Target="../media/image5.png"/><Relationship Id="rId5" Type="http://schemas.openxmlformats.org/officeDocument/2006/relationships/tags" Target="../tags/tag94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93.xml"/><Relationship Id="rId9" Type="http://schemas.openxmlformats.org/officeDocument/2006/relationships/tags" Target="../tags/tag9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7"/>
          </p:nvPr>
        </p:nvSpPr>
        <p:spPr>
          <a:xfrm>
            <a:off x="1713865" y="4624705"/>
            <a:ext cx="3675380" cy="539750"/>
          </a:xfrm>
        </p:spPr>
        <p:txBody>
          <a:bodyPr>
            <a:normAutofit/>
          </a:bodyPr>
          <a:lstStyle/>
          <a:p>
            <a:r>
              <a:rPr lang="zh-CN" altLang="en-US" b="0"/>
              <a:t>广州快决测信息科技有限公司敬呈</a:t>
            </a: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61540" y="808990"/>
            <a:ext cx="1114425" cy="22479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 flipH="1">
            <a:off x="1996440" y="808990"/>
            <a:ext cx="0" cy="2520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17227" y="808990"/>
            <a:ext cx="131571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#</a:t>
            </a:r>
            <a:r>
              <a:rPr lang="zh-CN" altLang="en-US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客户</a:t>
            </a:r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logo#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9D8EF6-9B3D-0BF9-7956-F06EEB908C4E}"/>
              </a:ext>
            </a:extLst>
          </p:cNvPr>
          <p:cNvSpPr txBox="1"/>
          <p:nvPr/>
        </p:nvSpPr>
        <p:spPr>
          <a:xfrm>
            <a:off x="1052798" y="1962150"/>
            <a:ext cx="6615486" cy="19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4800" b="1" noProof="1">
                <a:gradFill>
                  <a:gsLst>
                    <a:gs pos="0">
                      <a:srgbClr val="FFC300"/>
                    </a:gs>
                    <a:gs pos="18000">
                      <a:srgbClr val="FD6525"/>
                    </a:gs>
                    <a:gs pos="37000">
                      <a:srgbClr val="EF155F"/>
                    </a:gs>
                    <a:gs pos="100000">
                      <a:srgbClr val="9C059C"/>
                    </a:gs>
                    <a:gs pos="63000">
                      <a:srgbClr val="B50FB5"/>
                    </a:gs>
                  </a:gsLst>
                  <a:lin ang="1800000"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</a:t>
            </a:r>
            <a:r>
              <a:rPr lang="zh-CN" altLang="en-US" sz="4800" b="1" noProof="1">
                <a:gradFill>
                  <a:gsLst>
                    <a:gs pos="0">
                      <a:srgbClr val="FFC300"/>
                    </a:gs>
                    <a:gs pos="18000">
                      <a:srgbClr val="FD6525"/>
                    </a:gs>
                    <a:gs pos="37000">
                      <a:srgbClr val="EF155F"/>
                    </a:gs>
                    <a:gs pos="100000">
                      <a:srgbClr val="9C059C"/>
                    </a:gs>
                    <a:gs pos="63000">
                      <a:srgbClr val="B50FB5"/>
                    </a:gs>
                  </a:gsLst>
                  <a:lin ang="1800000"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项目名称</a:t>
            </a:r>
            <a:r>
              <a:rPr lang="en-US" altLang="zh-CN" sz="4800" b="1" noProof="1">
                <a:gradFill>
                  <a:gsLst>
                    <a:gs pos="0">
                      <a:srgbClr val="FFC300"/>
                    </a:gs>
                    <a:gs pos="18000">
                      <a:srgbClr val="FD6525"/>
                    </a:gs>
                    <a:gs pos="37000">
                      <a:srgbClr val="EF155F"/>
                    </a:gs>
                    <a:gs pos="100000">
                      <a:srgbClr val="9C059C"/>
                    </a:gs>
                    <a:gs pos="63000">
                      <a:srgbClr val="B50FB5"/>
                    </a:gs>
                  </a:gsLst>
                  <a:lin ang="1800000"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4800" b="1" noProof="1">
                <a:gradFill>
                  <a:gsLst>
                    <a:gs pos="0">
                      <a:srgbClr val="FFC300"/>
                    </a:gs>
                    <a:gs pos="18000">
                      <a:srgbClr val="FD6525"/>
                    </a:gs>
                    <a:gs pos="37000">
                      <a:srgbClr val="EF155F"/>
                    </a:gs>
                    <a:gs pos="100000">
                      <a:srgbClr val="9C059C"/>
                    </a:gs>
                    <a:gs pos="63000">
                      <a:srgbClr val="B50FB5"/>
                    </a:gs>
                  </a:gsLst>
                  <a:lin ang="1800000"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项目计划书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26"/>
          <p:cNvSpPr/>
          <p:nvPr>
            <p:custDataLst>
              <p:tags r:id="rId2"/>
            </p:custDataLst>
          </p:nvPr>
        </p:nvSpPr>
        <p:spPr>
          <a:xfrm>
            <a:off x="2560320" y="1179102"/>
            <a:ext cx="3672000" cy="576000"/>
          </a:xfrm>
          <a:custGeom>
            <a:avLst/>
            <a:gdLst/>
            <a:ahLst/>
            <a:cxnLst/>
            <a:rect l="l" t="t" r="r" b="b"/>
            <a:pathLst>
              <a:path w="4207743" h="596057">
                <a:moveTo>
                  <a:pt x="789087" y="106413"/>
                </a:moveTo>
                <a:cubicBezTo>
                  <a:pt x="740966" y="106413"/>
                  <a:pt x="703077" y="124272"/>
                  <a:pt x="675419" y="159991"/>
                </a:cubicBezTo>
                <a:cubicBezTo>
                  <a:pt x="647762" y="195709"/>
                  <a:pt x="633933" y="241970"/>
                  <a:pt x="633933" y="298773"/>
                </a:cubicBezTo>
                <a:cubicBezTo>
                  <a:pt x="633933" y="354831"/>
                  <a:pt x="647452" y="400658"/>
                  <a:pt x="674489" y="436253"/>
                </a:cubicBezTo>
                <a:cubicBezTo>
                  <a:pt x="701526" y="471848"/>
                  <a:pt x="738609" y="489645"/>
                  <a:pt x="785738" y="489645"/>
                </a:cubicBezTo>
                <a:cubicBezTo>
                  <a:pt x="833859" y="489645"/>
                  <a:pt x="871314" y="472592"/>
                  <a:pt x="898103" y="438485"/>
                </a:cubicBezTo>
                <a:cubicBezTo>
                  <a:pt x="924893" y="404379"/>
                  <a:pt x="938287" y="358552"/>
                  <a:pt x="938287" y="301005"/>
                </a:cubicBezTo>
                <a:cubicBezTo>
                  <a:pt x="938287" y="240978"/>
                  <a:pt x="925264" y="193539"/>
                  <a:pt x="899220" y="158688"/>
                </a:cubicBezTo>
                <a:cubicBezTo>
                  <a:pt x="873175" y="123838"/>
                  <a:pt x="836464" y="106413"/>
                  <a:pt x="789087" y="106413"/>
                </a:cubicBezTo>
                <a:close/>
                <a:moveTo>
                  <a:pt x="3315891" y="9674"/>
                </a:moveTo>
                <a:lnTo>
                  <a:pt x="3767584" y="9674"/>
                </a:lnTo>
                <a:lnTo>
                  <a:pt x="3767584" y="110133"/>
                </a:lnTo>
                <a:lnTo>
                  <a:pt x="3603129" y="110133"/>
                </a:lnTo>
                <a:lnTo>
                  <a:pt x="3603129" y="586011"/>
                </a:lnTo>
                <a:lnTo>
                  <a:pt x="3479974" y="586011"/>
                </a:lnTo>
                <a:lnTo>
                  <a:pt x="3479974" y="110133"/>
                </a:lnTo>
                <a:lnTo>
                  <a:pt x="3315891" y="110133"/>
                </a:lnTo>
                <a:close/>
                <a:moveTo>
                  <a:pt x="2722141" y="9674"/>
                </a:moveTo>
                <a:lnTo>
                  <a:pt x="2856086" y="9674"/>
                </a:lnTo>
                <a:lnTo>
                  <a:pt x="3091234" y="372071"/>
                </a:lnTo>
                <a:cubicBezTo>
                  <a:pt x="3106861" y="396131"/>
                  <a:pt x="3116411" y="411386"/>
                  <a:pt x="3119884" y="417835"/>
                </a:cubicBezTo>
                <a:lnTo>
                  <a:pt x="3121744" y="417835"/>
                </a:lnTo>
                <a:cubicBezTo>
                  <a:pt x="3119264" y="403945"/>
                  <a:pt x="3118024" y="377404"/>
                  <a:pt x="3118024" y="338212"/>
                </a:cubicBezTo>
                <a:lnTo>
                  <a:pt x="3118024" y="9674"/>
                </a:lnTo>
                <a:lnTo>
                  <a:pt x="3234482" y="9674"/>
                </a:lnTo>
                <a:lnTo>
                  <a:pt x="3234482" y="586011"/>
                </a:lnTo>
                <a:lnTo>
                  <a:pt x="3108722" y="586011"/>
                </a:lnTo>
                <a:lnTo>
                  <a:pt x="2864644" y="213197"/>
                </a:lnTo>
                <a:cubicBezTo>
                  <a:pt x="2851993" y="193849"/>
                  <a:pt x="2842815" y="178222"/>
                  <a:pt x="2837110" y="166316"/>
                </a:cubicBezTo>
                <a:lnTo>
                  <a:pt x="2835250" y="166316"/>
                </a:lnTo>
                <a:cubicBezTo>
                  <a:pt x="2837483" y="186160"/>
                  <a:pt x="2838599" y="216793"/>
                  <a:pt x="2838599" y="258217"/>
                </a:cubicBezTo>
                <a:lnTo>
                  <a:pt x="2838599" y="586011"/>
                </a:lnTo>
                <a:lnTo>
                  <a:pt x="2722141" y="586011"/>
                </a:lnTo>
                <a:close/>
                <a:moveTo>
                  <a:pt x="2283991" y="9674"/>
                </a:moveTo>
                <a:lnTo>
                  <a:pt x="2611785" y="9674"/>
                </a:lnTo>
                <a:lnTo>
                  <a:pt x="2611785" y="110133"/>
                </a:lnTo>
                <a:lnTo>
                  <a:pt x="2406774" y="110133"/>
                </a:lnTo>
                <a:lnTo>
                  <a:pt x="2406774" y="245939"/>
                </a:lnTo>
                <a:lnTo>
                  <a:pt x="2597274" y="245939"/>
                </a:lnTo>
                <a:lnTo>
                  <a:pt x="2597274" y="346026"/>
                </a:lnTo>
                <a:lnTo>
                  <a:pt x="2406774" y="346026"/>
                </a:lnTo>
                <a:lnTo>
                  <a:pt x="2406774" y="485552"/>
                </a:lnTo>
                <a:lnTo>
                  <a:pt x="2625179" y="485552"/>
                </a:lnTo>
                <a:lnTo>
                  <a:pt x="2625179" y="586011"/>
                </a:lnTo>
                <a:lnTo>
                  <a:pt x="2283991" y="586011"/>
                </a:lnTo>
                <a:close/>
                <a:moveTo>
                  <a:pt x="1753791" y="9674"/>
                </a:moveTo>
                <a:lnTo>
                  <a:pt x="2205484" y="9674"/>
                </a:lnTo>
                <a:lnTo>
                  <a:pt x="2205484" y="110133"/>
                </a:lnTo>
                <a:lnTo>
                  <a:pt x="2041029" y="110133"/>
                </a:lnTo>
                <a:lnTo>
                  <a:pt x="2041029" y="586011"/>
                </a:lnTo>
                <a:lnTo>
                  <a:pt x="1917874" y="586011"/>
                </a:lnTo>
                <a:lnTo>
                  <a:pt x="1917874" y="110133"/>
                </a:lnTo>
                <a:lnTo>
                  <a:pt x="1753791" y="110133"/>
                </a:lnTo>
                <a:close/>
                <a:moveTo>
                  <a:pt x="1160041" y="9674"/>
                </a:moveTo>
                <a:lnTo>
                  <a:pt x="1293986" y="9674"/>
                </a:lnTo>
                <a:lnTo>
                  <a:pt x="1529135" y="372071"/>
                </a:lnTo>
                <a:cubicBezTo>
                  <a:pt x="1544761" y="396131"/>
                  <a:pt x="1554311" y="411386"/>
                  <a:pt x="1557784" y="417835"/>
                </a:cubicBezTo>
                <a:lnTo>
                  <a:pt x="1559644" y="417835"/>
                </a:lnTo>
                <a:cubicBezTo>
                  <a:pt x="1557164" y="403945"/>
                  <a:pt x="1555924" y="377404"/>
                  <a:pt x="1555924" y="338212"/>
                </a:cubicBezTo>
                <a:lnTo>
                  <a:pt x="1555924" y="9674"/>
                </a:lnTo>
                <a:lnTo>
                  <a:pt x="1672382" y="9674"/>
                </a:lnTo>
                <a:lnTo>
                  <a:pt x="1672382" y="586011"/>
                </a:lnTo>
                <a:lnTo>
                  <a:pt x="1546622" y="586011"/>
                </a:lnTo>
                <a:lnTo>
                  <a:pt x="1302544" y="213197"/>
                </a:lnTo>
                <a:cubicBezTo>
                  <a:pt x="1289893" y="193849"/>
                  <a:pt x="1280716" y="178222"/>
                  <a:pt x="1275011" y="166316"/>
                </a:cubicBezTo>
                <a:lnTo>
                  <a:pt x="1273150" y="166316"/>
                </a:lnTo>
                <a:cubicBezTo>
                  <a:pt x="1275383" y="186160"/>
                  <a:pt x="1276499" y="216793"/>
                  <a:pt x="1276499" y="258217"/>
                </a:cubicBezTo>
                <a:lnTo>
                  <a:pt x="1276499" y="586011"/>
                </a:lnTo>
                <a:lnTo>
                  <a:pt x="1160041" y="586011"/>
                </a:lnTo>
                <a:close/>
                <a:moveTo>
                  <a:pt x="4040683" y="0"/>
                </a:moveTo>
                <a:cubicBezTo>
                  <a:pt x="4096990" y="0"/>
                  <a:pt x="4144243" y="7318"/>
                  <a:pt x="4182442" y="21953"/>
                </a:cubicBezTo>
                <a:lnTo>
                  <a:pt x="4182442" y="137294"/>
                </a:lnTo>
                <a:cubicBezTo>
                  <a:pt x="4143747" y="111001"/>
                  <a:pt x="4098478" y="97855"/>
                  <a:pt x="4046637" y="97855"/>
                </a:cubicBezTo>
                <a:cubicBezTo>
                  <a:pt x="4016375" y="97855"/>
                  <a:pt x="3992191" y="103374"/>
                  <a:pt x="3974083" y="114412"/>
                </a:cubicBezTo>
                <a:cubicBezTo>
                  <a:pt x="3955975" y="125450"/>
                  <a:pt x="3946922" y="140271"/>
                  <a:pt x="3946922" y="158874"/>
                </a:cubicBezTo>
                <a:cubicBezTo>
                  <a:pt x="3946922" y="173757"/>
                  <a:pt x="3953123" y="187462"/>
                  <a:pt x="3965525" y="199988"/>
                </a:cubicBezTo>
                <a:cubicBezTo>
                  <a:pt x="3977927" y="212515"/>
                  <a:pt x="4008562" y="229444"/>
                  <a:pt x="4057427" y="250776"/>
                </a:cubicBezTo>
                <a:cubicBezTo>
                  <a:pt x="4114725" y="275332"/>
                  <a:pt x="4154103" y="301253"/>
                  <a:pt x="4175559" y="328539"/>
                </a:cubicBezTo>
                <a:cubicBezTo>
                  <a:pt x="4197015" y="355824"/>
                  <a:pt x="4207743" y="388318"/>
                  <a:pt x="4207743" y="426021"/>
                </a:cubicBezTo>
                <a:cubicBezTo>
                  <a:pt x="4207743" y="481335"/>
                  <a:pt x="4188147" y="523503"/>
                  <a:pt x="4148956" y="552525"/>
                </a:cubicBezTo>
                <a:cubicBezTo>
                  <a:pt x="4109765" y="581546"/>
                  <a:pt x="4054078" y="596057"/>
                  <a:pt x="3981896" y="596057"/>
                </a:cubicBezTo>
                <a:cubicBezTo>
                  <a:pt x="3915916" y="596057"/>
                  <a:pt x="3861841" y="585391"/>
                  <a:pt x="3819674" y="564059"/>
                </a:cubicBezTo>
                <a:lnTo>
                  <a:pt x="3819674" y="440904"/>
                </a:lnTo>
                <a:cubicBezTo>
                  <a:pt x="3866059" y="479351"/>
                  <a:pt x="3918768" y="498575"/>
                  <a:pt x="3977804" y="498575"/>
                </a:cubicBezTo>
                <a:cubicBezTo>
                  <a:pt x="4011290" y="498575"/>
                  <a:pt x="4036467" y="492808"/>
                  <a:pt x="4053334" y="481273"/>
                </a:cubicBezTo>
                <a:cubicBezTo>
                  <a:pt x="4070201" y="469739"/>
                  <a:pt x="4078635" y="454918"/>
                  <a:pt x="4078635" y="436811"/>
                </a:cubicBezTo>
                <a:cubicBezTo>
                  <a:pt x="4078635" y="421184"/>
                  <a:pt x="4071937" y="406425"/>
                  <a:pt x="4058543" y="392535"/>
                </a:cubicBezTo>
                <a:cubicBezTo>
                  <a:pt x="4045148" y="378644"/>
                  <a:pt x="4009802" y="359792"/>
                  <a:pt x="3952503" y="335980"/>
                </a:cubicBezTo>
                <a:cubicBezTo>
                  <a:pt x="3862462" y="297781"/>
                  <a:pt x="3817441" y="242218"/>
                  <a:pt x="3817441" y="169292"/>
                </a:cubicBezTo>
                <a:cubicBezTo>
                  <a:pt x="3817441" y="115714"/>
                  <a:pt x="3837843" y="74104"/>
                  <a:pt x="3878647" y="44463"/>
                </a:cubicBezTo>
                <a:cubicBezTo>
                  <a:pt x="3919451" y="14821"/>
                  <a:pt x="3973463" y="0"/>
                  <a:pt x="4040683" y="0"/>
                </a:cubicBezTo>
                <a:close/>
                <a:moveTo>
                  <a:pt x="792807" y="0"/>
                </a:moveTo>
                <a:cubicBezTo>
                  <a:pt x="875159" y="0"/>
                  <a:pt x="941450" y="27410"/>
                  <a:pt x="991679" y="82228"/>
                </a:cubicBezTo>
                <a:cubicBezTo>
                  <a:pt x="1041909" y="137046"/>
                  <a:pt x="1067023" y="207492"/>
                  <a:pt x="1067023" y="293564"/>
                </a:cubicBezTo>
                <a:cubicBezTo>
                  <a:pt x="1067023" y="383357"/>
                  <a:pt x="1040916" y="456221"/>
                  <a:pt x="988702" y="512155"/>
                </a:cubicBezTo>
                <a:cubicBezTo>
                  <a:pt x="936489" y="568090"/>
                  <a:pt x="868090" y="596057"/>
                  <a:pt x="783506" y="596057"/>
                </a:cubicBezTo>
                <a:cubicBezTo>
                  <a:pt x="700906" y="596057"/>
                  <a:pt x="633809" y="568958"/>
                  <a:pt x="582216" y="514760"/>
                </a:cubicBezTo>
                <a:cubicBezTo>
                  <a:pt x="530622" y="460561"/>
                  <a:pt x="504825" y="390798"/>
                  <a:pt x="504825" y="305470"/>
                </a:cubicBezTo>
                <a:cubicBezTo>
                  <a:pt x="504825" y="215181"/>
                  <a:pt x="531180" y="141697"/>
                  <a:pt x="583890" y="85018"/>
                </a:cubicBezTo>
                <a:cubicBezTo>
                  <a:pt x="636600" y="28340"/>
                  <a:pt x="706239" y="0"/>
                  <a:pt x="792807" y="0"/>
                </a:cubicBezTo>
                <a:close/>
                <a:moveTo>
                  <a:pt x="305842" y="0"/>
                </a:moveTo>
                <a:cubicBezTo>
                  <a:pt x="362148" y="0"/>
                  <a:pt x="409278" y="7318"/>
                  <a:pt x="447229" y="21953"/>
                </a:cubicBezTo>
                <a:lnTo>
                  <a:pt x="447229" y="140643"/>
                </a:lnTo>
                <a:cubicBezTo>
                  <a:pt x="408285" y="117823"/>
                  <a:pt x="364133" y="106413"/>
                  <a:pt x="314771" y="106413"/>
                </a:cubicBezTo>
                <a:cubicBezTo>
                  <a:pt x="258465" y="106413"/>
                  <a:pt x="213444" y="124396"/>
                  <a:pt x="179710" y="160363"/>
                </a:cubicBezTo>
                <a:cubicBezTo>
                  <a:pt x="145976" y="196329"/>
                  <a:pt x="129108" y="243334"/>
                  <a:pt x="129108" y="301377"/>
                </a:cubicBezTo>
                <a:cubicBezTo>
                  <a:pt x="129108" y="357932"/>
                  <a:pt x="145107" y="403449"/>
                  <a:pt x="177105" y="437927"/>
                </a:cubicBezTo>
                <a:cubicBezTo>
                  <a:pt x="209104" y="472406"/>
                  <a:pt x="252388" y="489645"/>
                  <a:pt x="306958" y="489645"/>
                </a:cubicBezTo>
                <a:cubicBezTo>
                  <a:pt x="358304" y="489645"/>
                  <a:pt x="405061" y="477243"/>
                  <a:pt x="447229" y="452438"/>
                </a:cubicBezTo>
                <a:lnTo>
                  <a:pt x="447229" y="565175"/>
                </a:lnTo>
                <a:cubicBezTo>
                  <a:pt x="405309" y="585763"/>
                  <a:pt x="350614" y="596057"/>
                  <a:pt x="283145" y="596057"/>
                </a:cubicBezTo>
                <a:cubicBezTo>
                  <a:pt x="196329" y="596057"/>
                  <a:pt x="127434" y="570074"/>
                  <a:pt x="76460" y="518108"/>
                </a:cubicBezTo>
                <a:cubicBezTo>
                  <a:pt x="25487" y="466142"/>
                  <a:pt x="0" y="396875"/>
                  <a:pt x="0" y="310307"/>
                </a:cubicBezTo>
                <a:cubicBezTo>
                  <a:pt x="0" y="219274"/>
                  <a:pt x="28464" y="144798"/>
                  <a:pt x="85390" y="86879"/>
                </a:cubicBezTo>
                <a:cubicBezTo>
                  <a:pt x="142317" y="28960"/>
                  <a:pt x="215801" y="0"/>
                  <a:pt x="305842" y="0"/>
                </a:cubicBezTo>
                <a:close/>
              </a:path>
            </a:pathLst>
          </a:custGeom>
          <a:solidFill>
            <a:schemeClr val="accent1">
              <a:alpha val="5000"/>
            </a:schemeClr>
          </a:solidFill>
          <a:ln w="6350">
            <a:solidFill>
              <a:schemeClr val="accent1">
                <a:alpha val="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800">
              <a:latin typeface="HarmonyOS Sans SC Black" panose="00000A00000000000000" charset="-122"/>
              <a:ea typeface="HarmonyOS Sans SC Black" panose="00000A00000000000000" charset="-122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764784" y="1106263"/>
            <a:ext cx="1895622" cy="808038"/>
          </a:xfrm>
        </p:spPr>
        <p:txBody>
          <a:bodyPr>
            <a:noAutofit/>
          </a:bodyPr>
          <a:lstStyle/>
          <a:p>
            <a:r>
              <a:rPr lang="zh-CN" altLang="en-US" sz="5400">
                <a:latin typeface="HarmonyOS Sans SC Black" panose="00000A00000000000000" charset="-122"/>
                <a:ea typeface="HarmonyOS Sans SC Black" panose="00000A00000000000000" charset="-122"/>
              </a:rPr>
              <a:t>目录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056005" y="2550160"/>
            <a:ext cx="4964430" cy="981710"/>
            <a:chOff x="1663" y="4016"/>
            <a:chExt cx="7818" cy="1546"/>
          </a:xfrm>
        </p:grpSpPr>
        <p:sp>
          <p:nvSpPr>
            <p:cNvPr id="2" name="任意多边形 1"/>
            <p:cNvSpPr/>
            <p:nvPr>
              <p:custDataLst>
                <p:tags r:id="rId17"/>
              </p:custDataLst>
            </p:nvPr>
          </p:nvSpPr>
          <p:spPr>
            <a:xfrm>
              <a:off x="1663" y="4016"/>
              <a:ext cx="7818" cy="154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818" h="1547">
                  <a:moveTo>
                    <a:pt x="774" y="0"/>
                  </a:moveTo>
                  <a:lnTo>
                    <a:pt x="7044" y="0"/>
                  </a:lnTo>
                  <a:cubicBezTo>
                    <a:pt x="7471" y="0"/>
                    <a:pt x="7818" y="346"/>
                    <a:pt x="7818" y="774"/>
                  </a:cubicBezTo>
                  <a:cubicBezTo>
                    <a:pt x="7818" y="1201"/>
                    <a:pt x="7471" y="1547"/>
                    <a:pt x="7044" y="1547"/>
                  </a:cubicBezTo>
                  <a:lnTo>
                    <a:pt x="774" y="1547"/>
                  </a:lnTo>
                  <a:cubicBezTo>
                    <a:pt x="346" y="1547"/>
                    <a:pt x="0" y="1201"/>
                    <a:pt x="0" y="774"/>
                  </a:cubicBezTo>
                  <a:cubicBezTo>
                    <a:pt x="0" y="346"/>
                    <a:pt x="346" y="0"/>
                    <a:pt x="77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0" scaled="1"/>
            </a:gradFill>
            <a:ln w="13790" cap="flat">
              <a:solidFill>
                <a:schemeClr val="bg2">
                  <a:lumMod val="90000"/>
                  <a:alpha val="50000"/>
                </a:schemeClr>
              </a:solidFill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buClrTx/>
                <a:buSzTx/>
                <a:buFontTx/>
              </a:pPr>
              <a:endParaRPr lang="zh-CN" altLang="en-US">
                <a:latin typeface="+mn-ea"/>
                <a:sym typeface="+mn-ea"/>
              </a:endParaRPr>
            </a:p>
          </p:txBody>
        </p:sp>
        <p:sp>
          <p:nvSpPr>
            <p:cNvPr id="46" name="序号"/>
            <p:cNvSpPr/>
            <p:nvPr>
              <p:custDataLst>
                <p:tags r:id="rId18"/>
              </p:custDataLst>
            </p:nvPr>
          </p:nvSpPr>
          <p:spPr>
            <a:xfrm>
              <a:off x="1942" y="4282"/>
              <a:ext cx="1014" cy="1014"/>
            </a:xfrm>
            <a:prstGeom prst="ellipse">
              <a:avLst/>
            </a:prstGeom>
            <a:gradFill flip="none" rotWithShape="1">
              <a:gsLst>
                <a:gs pos="2000">
                  <a:schemeClr val="accent1"/>
                </a:gs>
                <a:gs pos="100000">
                  <a:schemeClr val="accent2"/>
                </a:gs>
                <a:gs pos="63000">
                  <a:schemeClr val="accent3"/>
                </a:gs>
                <a:gs pos="33000">
                  <a:schemeClr val="accent4"/>
                </a:gs>
              </a:gsLst>
              <a:lin ang="135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lvl="0"/>
            </a:lstStyle>
            <a:p>
              <a:pPr lvl="0" algn="ctr">
                <a:buClrTx/>
                <a:buSzTx/>
                <a:buFontTx/>
              </a:pPr>
              <a:r>
                <a:rPr lang="en-US" altLang="zh-CN" sz="2400" b="1" dirty="0">
                  <a:latin typeface="+mj-ea"/>
                  <a:ea typeface="+mj-ea"/>
                  <a:sym typeface="+mn-ea"/>
                </a:rPr>
                <a:t>01</a:t>
              </a:r>
            </a:p>
          </p:txBody>
        </p:sp>
        <p:sp>
          <p:nvSpPr>
            <p:cNvPr id="47" name="项标题"/>
            <p:cNvSpPr txBox="1"/>
            <p:nvPr>
              <p:custDataLst>
                <p:tags r:id="rId19"/>
              </p:custDataLst>
            </p:nvPr>
          </p:nvSpPr>
          <p:spPr>
            <a:xfrm>
              <a:off x="3460" y="4257"/>
              <a:ext cx="5550" cy="106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000" spc="300" dirty="0">
                  <a:solidFill>
                    <a:schemeClr val="tx2"/>
                  </a:solidFill>
                  <a:latin typeface="HarmonyOS Sans SC" panose="00000500000000000000" charset="-122"/>
                  <a:ea typeface="HarmonyOS Sans SC" panose="00000500000000000000" charset="-122"/>
                </a:rPr>
                <a:t>项目背景与研究目的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056005" y="3677920"/>
            <a:ext cx="4964430" cy="981710"/>
            <a:chOff x="1663" y="5792"/>
            <a:chExt cx="7818" cy="1546"/>
          </a:xfrm>
        </p:grpSpPr>
        <p:sp>
          <p:nvSpPr>
            <p:cNvPr id="5" name="任意多边形 4"/>
            <p:cNvSpPr/>
            <p:nvPr>
              <p:custDataLst>
                <p:tags r:id="rId14"/>
              </p:custDataLst>
            </p:nvPr>
          </p:nvSpPr>
          <p:spPr>
            <a:xfrm>
              <a:off x="1663" y="5792"/>
              <a:ext cx="7818" cy="154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818" h="1547">
                  <a:moveTo>
                    <a:pt x="774" y="0"/>
                  </a:moveTo>
                  <a:lnTo>
                    <a:pt x="7044" y="0"/>
                  </a:lnTo>
                  <a:cubicBezTo>
                    <a:pt x="7471" y="0"/>
                    <a:pt x="7818" y="346"/>
                    <a:pt x="7818" y="774"/>
                  </a:cubicBezTo>
                  <a:cubicBezTo>
                    <a:pt x="7818" y="1201"/>
                    <a:pt x="7471" y="1547"/>
                    <a:pt x="7044" y="1547"/>
                  </a:cubicBezTo>
                  <a:lnTo>
                    <a:pt x="774" y="1547"/>
                  </a:lnTo>
                  <a:cubicBezTo>
                    <a:pt x="346" y="1547"/>
                    <a:pt x="0" y="1201"/>
                    <a:pt x="0" y="774"/>
                  </a:cubicBezTo>
                  <a:cubicBezTo>
                    <a:pt x="0" y="346"/>
                    <a:pt x="346" y="0"/>
                    <a:pt x="77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0" scaled="1"/>
            </a:gradFill>
            <a:ln w="13790" cap="flat">
              <a:solidFill>
                <a:schemeClr val="bg2">
                  <a:lumMod val="90000"/>
                  <a:alpha val="50000"/>
                </a:schemeClr>
              </a:solidFill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buClrTx/>
                <a:buSzTx/>
                <a:buFontTx/>
              </a:pPr>
              <a:endParaRPr lang="zh-CN" altLang="en-US">
                <a:latin typeface="+mn-ea"/>
                <a:sym typeface="+mn-ea"/>
              </a:endParaRPr>
            </a:p>
          </p:txBody>
        </p:sp>
        <p:sp>
          <p:nvSpPr>
            <p:cNvPr id="23" name="序号"/>
            <p:cNvSpPr/>
            <p:nvPr>
              <p:custDataLst>
                <p:tags r:id="rId15"/>
              </p:custDataLst>
            </p:nvPr>
          </p:nvSpPr>
          <p:spPr>
            <a:xfrm>
              <a:off x="1942" y="6059"/>
              <a:ext cx="1014" cy="1014"/>
            </a:xfrm>
            <a:prstGeom prst="ellipse">
              <a:avLst/>
            </a:prstGeom>
            <a:gradFill flip="none" rotWithShape="1">
              <a:gsLst>
                <a:gs pos="2000">
                  <a:schemeClr val="accent1"/>
                </a:gs>
                <a:gs pos="100000">
                  <a:schemeClr val="accent2"/>
                </a:gs>
                <a:gs pos="63000">
                  <a:schemeClr val="accent3"/>
                </a:gs>
                <a:gs pos="33000">
                  <a:schemeClr val="accent4"/>
                </a:gs>
              </a:gsLst>
              <a:lin ang="135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lvl="0"/>
            </a:lstStyle>
            <a:p>
              <a:pPr lvl="0" algn="ctr">
                <a:buClrTx/>
                <a:buSzTx/>
                <a:buFontTx/>
              </a:pPr>
              <a:r>
                <a:rPr lang="en-US" altLang="zh-CN" sz="2400" b="1" dirty="0">
                  <a:latin typeface="+mj-ea"/>
                  <a:ea typeface="+mj-ea"/>
                  <a:sym typeface="+mn-ea"/>
                </a:rPr>
                <a:t>02</a:t>
              </a:r>
            </a:p>
          </p:txBody>
        </p:sp>
        <p:sp>
          <p:nvSpPr>
            <p:cNvPr id="24" name="项标题"/>
            <p:cNvSpPr txBox="1"/>
            <p:nvPr>
              <p:custDataLst>
                <p:tags r:id="rId16"/>
              </p:custDataLst>
            </p:nvPr>
          </p:nvSpPr>
          <p:spPr>
            <a:xfrm>
              <a:off x="3460" y="6033"/>
              <a:ext cx="5550" cy="106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000" spc="300" dirty="0">
                  <a:solidFill>
                    <a:schemeClr val="tx2"/>
                  </a:solidFill>
                  <a:latin typeface="HarmonyOS Sans SC" panose="00000500000000000000" charset="-122"/>
                  <a:ea typeface="HarmonyOS Sans SC" panose="00000500000000000000" charset="-122"/>
                </a:rPr>
                <a:t>研究方案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056005" y="4805680"/>
            <a:ext cx="4964430" cy="981710"/>
            <a:chOff x="1663" y="7568"/>
            <a:chExt cx="7818" cy="1546"/>
          </a:xfrm>
        </p:grpSpPr>
        <p:sp>
          <p:nvSpPr>
            <p:cNvPr id="16" name="任意多边形 15"/>
            <p:cNvSpPr/>
            <p:nvPr>
              <p:custDataLst>
                <p:tags r:id="rId11"/>
              </p:custDataLst>
            </p:nvPr>
          </p:nvSpPr>
          <p:spPr>
            <a:xfrm>
              <a:off x="1663" y="7568"/>
              <a:ext cx="7818" cy="154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818" h="1547">
                  <a:moveTo>
                    <a:pt x="774" y="0"/>
                  </a:moveTo>
                  <a:lnTo>
                    <a:pt x="7044" y="0"/>
                  </a:lnTo>
                  <a:cubicBezTo>
                    <a:pt x="7471" y="0"/>
                    <a:pt x="7818" y="346"/>
                    <a:pt x="7818" y="774"/>
                  </a:cubicBezTo>
                  <a:cubicBezTo>
                    <a:pt x="7818" y="1201"/>
                    <a:pt x="7471" y="1547"/>
                    <a:pt x="7044" y="1547"/>
                  </a:cubicBezTo>
                  <a:lnTo>
                    <a:pt x="774" y="1547"/>
                  </a:lnTo>
                  <a:cubicBezTo>
                    <a:pt x="346" y="1547"/>
                    <a:pt x="0" y="1201"/>
                    <a:pt x="0" y="774"/>
                  </a:cubicBezTo>
                  <a:cubicBezTo>
                    <a:pt x="0" y="346"/>
                    <a:pt x="346" y="0"/>
                    <a:pt x="77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0" scaled="1"/>
            </a:gradFill>
            <a:ln w="13790" cap="flat">
              <a:solidFill>
                <a:schemeClr val="bg2">
                  <a:lumMod val="90000"/>
                  <a:alpha val="50000"/>
                </a:schemeClr>
              </a:solidFill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buClrTx/>
                <a:buSzTx/>
                <a:buFontTx/>
              </a:pPr>
              <a:endParaRPr lang="zh-CN" altLang="en-US">
                <a:latin typeface="+mn-ea"/>
                <a:sym typeface="+mn-ea"/>
              </a:endParaRPr>
            </a:p>
          </p:txBody>
        </p:sp>
        <p:sp>
          <p:nvSpPr>
            <p:cNvPr id="7" name="序号"/>
            <p:cNvSpPr/>
            <p:nvPr>
              <p:custDataLst>
                <p:tags r:id="rId12"/>
              </p:custDataLst>
            </p:nvPr>
          </p:nvSpPr>
          <p:spPr>
            <a:xfrm>
              <a:off x="1942" y="7835"/>
              <a:ext cx="1014" cy="1014"/>
            </a:xfrm>
            <a:prstGeom prst="ellipse">
              <a:avLst/>
            </a:prstGeom>
            <a:gradFill flip="none" rotWithShape="1">
              <a:gsLst>
                <a:gs pos="2000">
                  <a:schemeClr val="accent1"/>
                </a:gs>
                <a:gs pos="100000">
                  <a:schemeClr val="accent2"/>
                </a:gs>
                <a:gs pos="63000">
                  <a:schemeClr val="accent3"/>
                </a:gs>
                <a:gs pos="33000">
                  <a:schemeClr val="accent4"/>
                </a:gs>
              </a:gsLst>
              <a:lin ang="135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lvl="0"/>
            </a:lstStyle>
            <a:p>
              <a:pPr lvl="0" algn="ctr">
                <a:buClrTx/>
                <a:buSzTx/>
                <a:buFontTx/>
              </a:pPr>
              <a:r>
                <a:rPr lang="en-US" altLang="zh-CN" sz="2400" b="1" dirty="0">
                  <a:latin typeface="+mj-ea"/>
                  <a:ea typeface="+mj-ea"/>
                  <a:sym typeface="+mn-ea"/>
                </a:rPr>
                <a:t>03</a:t>
              </a:r>
            </a:p>
          </p:txBody>
        </p:sp>
        <p:sp>
          <p:nvSpPr>
            <p:cNvPr id="8" name="项标题"/>
            <p:cNvSpPr txBox="1"/>
            <p:nvPr>
              <p:custDataLst>
                <p:tags r:id="rId13"/>
              </p:custDataLst>
            </p:nvPr>
          </p:nvSpPr>
          <p:spPr>
            <a:xfrm>
              <a:off x="3460" y="7810"/>
              <a:ext cx="5550" cy="106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000" spc="300" dirty="0">
                  <a:solidFill>
                    <a:schemeClr val="tx2"/>
                  </a:solidFill>
                  <a:latin typeface="HarmonyOS Sans SC" panose="00000500000000000000" charset="-122"/>
                  <a:ea typeface="HarmonyOS Sans SC" panose="00000500000000000000" charset="-122"/>
                </a:rPr>
                <a:t>预期结果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170930" y="2550160"/>
            <a:ext cx="4964430" cy="981710"/>
            <a:chOff x="9718" y="4016"/>
            <a:chExt cx="7818" cy="1546"/>
          </a:xfrm>
        </p:grpSpPr>
        <p:sp>
          <p:nvSpPr>
            <p:cNvPr id="3" name="任意多边形 2"/>
            <p:cNvSpPr/>
            <p:nvPr>
              <p:custDataLst>
                <p:tags r:id="rId8"/>
              </p:custDataLst>
            </p:nvPr>
          </p:nvSpPr>
          <p:spPr>
            <a:xfrm>
              <a:off x="9718" y="4016"/>
              <a:ext cx="7818" cy="154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818" h="1547">
                  <a:moveTo>
                    <a:pt x="774" y="0"/>
                  </a:moveTo>
                  <a:lnTo>
                    <a:pt x="7044" y="0"/>
                  </a:lnTo>
                  <a:cubicBezTo>
                    <a:pt x="7471" y="0"/>
                    <a:pt x="7818" y="346"/>
                    <a:pt x="7818" y="774"/>
                  </a:cubicBezTo>
                  <a:cubicBezTo>
                    <a:pt x="7818" y="1201"/>
                    <a:pt x="7471" y="1547"/>
                    <a:pt x="7044" y="1547"/>
                  </a:cubicBezTo>
                  <a:lnTo>
                    <a:pt x="774" y="1547"/>
                  </a:lnTo>
                  <a:cubicBezTo>
                    <a:pt x="346" y="1547"/>
                    <a:pt x="0" y="1201"/>
                    <a:pt x="0" y="774"/>
                  </a:cubicBezTo>
                  <a:cubicBezTo>
                    <a:pt x="0" y="346"/>
                    <a:pt x="346" y="0"/>
                    <a:pt x="77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0" scaled="1"/>
            </a:gradFill>
            <a:ln w="13790" cap="flat">
              <a:solidFill>
                <a:schemeClr val="bg2">
                  <a:lumMod val="90000"/>
                  <a:alpha val="50000"/>
                </a:schemeClr>
              </a:solidFill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buClrTx/>
                <a:buSzTx/>
                <a:buFontTx/>
              </a:pPr>
              <a:endParaRPr lang="zh-CN" altLang="en-US">
                <a:latin typeface="+mn-ea"/>
                <a:sym typeface="+mn-ea"/>
              </a:endParaRPr>
            </a:p>
          </p:txBody>
        </p:sp>
        <p:sp>
          <p:nvSpPr>
            <p:cNvPr id="10" name="序号"/>
            <p:cNvSpPr/>
            <p:nvPr>
              <p:custDataLst>
                <p:tags r:id="rId9"/>
              </p:custDataLst>
            </p:nvPr>
          </p:nvSpPr>
          <p:spPr>
            <a:xfrm>
              <a:off x="9997" y="4282"/>
              <a:ext cx="1014" cy="1014"/>
            </a:xfrm>
            <a:prstGeom prst="ellipse">
              <a:avLst/>
            </a:prstGeom>
            <a:gradFill flip="none" rotWithShape="1">
              <a:gsLst>
                <a:gs pos="2000">
                  <a:schemeClr val="accent1"/>
                </a:gs>
                <a:gs pos="100000">
                  <a:schemeClr val="accent2"/>
                </a:gs>
                <a:gs pos="63000">
                  <a:schemeClr val="accent3"/>
                </a:gs>
                <a:gs pos="33000">
                  <a:schemeClr val="accent4"/>
                </a:gs>
              </a:gsLst>
              <a:lin ang="135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lvl="0"/>
            </a:lstStyle>
            <a:p>
              <a:pPr lvl="0" algn="ctr">
                <a:buClrTx/>
                <a:buSzTx/>
                <a:buFontTx/>
              </a:pPr>
              <a:r>
                <a:rPr lang="en-US" altLang="zh-CN" sz="2400" b="1" dirty="0">
                  <a:latin typeface="+mj-ea"/>
                  <a:ea typeface="+mj-ea"/>
                  <a:sym typeface="+mn-ea"/>
                </a:rPr>
                <a:t>04</a:t>
              </a:r>
            </a:p>
          </p:txBody>
        </p:sp>
        <p:sp>
          <p:nvSpPr>
            <p:cNvPr id="11" name="项标题"/>
            <p:cNvSpPr txBox="1"/>
            <p:nvPr>
              <p:custDataLst>
                <p:tags r:id="rId10"/>
              </p:custDataLst>
            </p:nvPr>
          </p:nvSpPr>
          <p:spPr>
            <a:xfrm>
              <a:off x="11515" y="4257"/>
              <a:ext cx="5550" cy="106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000" spc="300" dirty="0">
                  <a:solidFill>
                    <a:schemeClr val="tx2"/>
                  </a:solidFill>
                  <a:latin typeface="HarmonyOS Sans SC" panose="00000500000000000000" charset="-122"/>
                  <a:ea typeface="HarmonyOS Sans SC" panose="00000500000000000000" charset="-122"/>
                </a:rPr>
                <a:t>研究设计与报价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170930" y="3677920"/>
            <a:ext cx="4964430" cy="981710"/>
            <a:chOff x="9718" y="5792"/>
            <a:chExt cx="7818" cy="1546"/>
          </a:xfrm>
        </p:grpSpPr>
        <p:sp>
          <p:nvSpPr>
            <p:cNvPr id="15" name="任意多边形 14"/>
            <p:cNvSpPr/>
            <p:nvPr>
              <p:custDataLst>
                <p:tags r:id="rId5"/>
              </p:custDataLst>
            </p:nvPr>
          </p:nvSpPr>
          <p:spPr>
            <a:xfrm>
              <a:off x="9718" y="5792"/>
              <a:ext cx="7818" cy="154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818" h="1547">
                  <a:moveTo>
                    <a:pt x="774" y="0"/>
                  </a:moveTo>
                  <a:lnTo>
                    <a:pt x="7044" y="0"/>
                  </a:lnTo>
                  <a:cubicBezTo>
                    <a:pt x="7471" y="0"/>
                    <a:pt x="7818" y="346"/>
                    <a:pt x="7818" y="774"/>
                  </a:cubicBezTo>
                  <a:cubicBezTo>
                    <a:pt x="7818" y="1201"/>
                    <a:pt x="7471" y="1547"/>
                    <a:pt x="7044" y="1547"/>
                  </a:cubicBezTo>
                  <a:lnTo>
                    <a:pt x="774" y="1547"/>
                  </a:lnTo>
                  <a:cubicBezTo>
                    <a:pt x="346" y="1547"/>
                    <a:pt x="0" y="1201"/>
                    <a:pt x="0" y="774"/>
                  </a:cubicBezTo>
                  <a:cubicBezTo>
                    <a:pt x="0" y="346"/>
                    <a:pt x="346" y="0"/>
                    <a:pt x="77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0" scaled="1"/>
            </a:gradFill>
            <a:ln w="13790" cap="flat">
              <a:solidFill>
                <a:schemeClr val="bg2">
                  <a:lumMod val="90000"/>
                  <a:alpha val="50000"/>
                </a:schemeClr>
              </a:solidFill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buClrTx/>
                <a:buSzTx/>
                <a:buFontTx/>
              </a:pPr>
              <a:endParaRPr lang="zh-CN" altLang="en-US">
                <a:latin typeface="+mn-ea"/>
                <a:sym typeface="+mn-ea"/>
              </a:endParaRPr>
            </a:p>
          </p:txBody>
        </p:sp>
        <p:sp>
          <p:nvSpPr>
            <p:cNvPr id="13" name="序号"/>
            <p:cNvSpPr/>
            <p:nvPr>
              <p:custDataLst>
                <p:tags r:id="rId6"/>
              </p:custDataLst>
            </p:nvPr>
          </p:nvSpPr>
          <p:spPr>
            <a:xfrm>
              <a:off x="9997" y="6059"/>
              <a:ext cx="1014" cy="1014"/>
            </a:xfrm>
            <a:prstGeom prst="ellipse">
              <a:avLst/>
            </a:prstGeom>
            <a:gradFill flip="none" rotWithShape="1">
              <a:gsLst>
                <a:gs pos="2000">
                  <a:schemeClr val="accent1"/>
                </a:gs>
                <a:gs pos="100000">
                  <a:schemeClr val="accent2"/>
                </a:gs>
                <a:gs pos="63000">
                  <a:schemeClr val="accent3"/>
                </a:gs>
                <a:gs pos="33000">
                  <a:schemeClr val="accent4"/>
                </a:gs>
              </a:gsLst>
              <a:lin ang="135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lvl="0"/>
            </a:lstStyle>
            <a:p>
              <a:pPr lvl="0" algn="ctr">
                <a:buClrTx/>
                <a:buSzTx/>
                <a:buFontTx/>
              </a:pPr>
              <a:r>
                <a:rPr lang="en-US" altLang="zh-CN" sz="2400" b="1" dirty="0">
                  <a:latin typeface="+mj-ea"/>
                  <a:ea typeface="+mj-ea"/>
                  <a:sym typeface="+mn-ea"/>
                </a:rPr>
                <a:t>05</a:t>
              </a:r>
            </a:p>
          </p:txBody>
        </p:sp>
        <p:sp>
          <p:nvSpPr>
            <p:cNvPr id="14" name="项标题"/>
            <p:cNvSpPr txBox="1"/>
            <p:nvPr>
              <p:custDataLst>
                <p:tags r:id="rId7"/>
              </p:custDataLst>
            </p:nvPr>
          </p:nvSpPr>
          <p:spPr>
            <a:xfrm>
              <a:off x="11515" y="6033"/>
              <a:ext cx="5550" cy="106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000" spc="300" dirty="0">
                  <a:solidFill>
                    <a:schemeClr val="tx2"/>
                  </a:solidFill>
                  <a:latin typeface="HarmonyOS Sans SC" panose="00000500000000000000" charset="-122"/>
                  <a:ea typeface="HarmonyOS Sans SC" panose="00000500000000000000" charset="-122"/>
                </a:rPr>
                <a:t>快决测企业介绍</a:t>
              </a:r>
            </a:p>
          </p:txBody>
        </p:sp>
      </p:grpSp>
      <p:pic>
        <p:nvPicPr>
          <p:cNvPr id="18" name="图片 1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12730" y="809625"/>
            <a:ext cx="1114425" cy="224790"/>
          </a:xfrm>
          <a:prstGeom prst="rect">
            <a:avLst/>
          </a:prstGeom>
        </p:spPr>
      </p:pic>
      <p:cxnSp>
        <p:nvCxnSpPr>
          <p:cNvPr id="25" name="直接连接符 24"/>
          <p:cNvCxnSpPr/>
          <p:nvPr/>
        </p:nvCxnSpPr>
        <p:spPr>
          <a:xfrm flipH="1">
            <a:off x="10247630" y="809625"/>
            <a:ext cx="0" cy="2520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9059546" y="809625"/>
            <a:ext cx="118808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#</a:t>
            </a:r>
            <a:r>
              <a:rPr lang="zh-CN" altLang="en-US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客户</a:t>
            </a:r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logo#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0765" y="3754777"/>
            <a:ext cx="5920474" cy="2055473"/>
          </a:xfrm>
        </p:spPr>
        <p:txBody>
          <a:bodyPr>
            <a:normAutofit/>
          </a:bodyPr>
          <a:lstStyle/>
          <a:p>
            <a:r>
              <a:rPr lang="zh-CN" altLang="en-US" dirty="0"/>
              <a:t>项目背景与研究目的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/>
            <a:r>
              <a:rPr lang="zh-CN" altLang="en-US"/>
              <a:t>PART1</a:t>
            </a: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61540" y="808990"/>
            <a:ext cx="1114425" cy="22479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 flipH="1">
            <a:off x="1996440" y="808990"/>
            <a:ext cx="0" cy="2520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08355" y="808990"/>
            <a:ext cx="11880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#</a:t>
            </a:r>
            <a:r>
              <a:rPr lang="zh-CN" altLang="en-US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客户</a:t>
            </a:r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logo#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69B72-17D4-F378-F38A-38530270A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BFE658-6E74-4352-9759-C44E3FB58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行业现状</a:t>
            </a:r>
          </a:p>
        </p:txBody>
      </p:sp>
    </p:spTree>
    <p:extLst>
      <p:ext uri="{BB962C8B-B14F-4D97-AF65-F5344CB8AC3E}">
        <p14:creationId xmlns:p14="http://schemas.microsoft.com/office/powerpoint/2010/main" val="3460010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右箭头 14"/>
          <p:cNvSpPr/>
          <p:nvPr userDrawn="1">
            <p:custDataLst>
              <p:tags r:id="rId1"/>
            </p:custDataLst>
          </p:nvPr>
        </p:nvSpPr>
        <p:spPr>
          <a:xfrm>
            <a:off x="5964555" y="3484880"/>
            <a:ext cx="396240" cy="416560"/>
          </a:xfrm>
          <a:prstGeom prst="rightArrow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70000">
                <a:schemeClr val="accent3">
                  <a:alpha val="30000"/>
                </a:schemeClr>
              </a:gs>
              <a:gs pos="36000">
                <a:schemeClr val="accent4">
                  <a:alpha val="50000"/>
                </a:schemeClr>
              </a:gs>
              <a:gs pos="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0" name="圆角矩形 19"/>
          <p:cNvSpPr/>
          <p:nvPr userDrawn="1">
            <p:custDataLst>
              <p:tags r:id="rId2"/>
            </p:custDataLst>
          </p:nvPr>
        </p:nvSpPr>
        <p:spPr>
          <a:xfrm>
            <a:off x="6926580" y="1225550"/>
            <a:ext cx="4775835" cy="5090795"/>
          </a:xfrm>
          <a:prstGeom prst="roundRect">
            <a:avLst>
              <a:gd name="adj" fmla="val 1585"/>
            </a:avLst>
          </a:prstGeom>
          <a:solidFill>
            <a:schemeClr val="lt1"/>
          </a:solidFill>
          <a:ln w="3175" cap="flat" cmpd="sng" algn="ctr">
            <a:solidFill>
              <a:schemeClr val="accent1">
                <a:lumMod val="10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21" name="文本占位符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230110" y="1419860"/>
            <a:ext cx="2953385" cy="29845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0" indent="0">
              <a:buNone/>
              <a:defRPr sz="1600" b="1" i="0">
                <a:solidFill>
                  <a:srgbClr val="1B1C1D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研究目的</a:t>
            </a:r>
          </a:p>
        </p:txBody>
      </p:sp>
      <p:sp>
        <p:nvSpPr>
          <p:cNvPr id="23" name="圆角矩形 22"/>
          <p:cNvSpPr/>
          <p:nvPr userDrawn="1">
            <p:custDataLst>
              <p:tags r:id="rId4"/>
            </p:custDataLst>
          </p:nvPr>
        </p:nvSpPr>
        <p:spPr>
          <a:xfrm>
            <a:off x="7230110" y="1706245"/>
            <a:ext cx="1002030" cy="53975"/>
          </a:xfrm>
          <a:prstGeom prst="roundRect">
            <a:avLst>
              <a:gd name="adj" fmla="val 48101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70000">
                <a:schemeClr val="accent3">
                  <a:alpha val="30000"/>
                </a:schemeClr>
              </a:gs>
              <a:gs pos="36000">
                <a:schemeClr val="accent4">
                  <a:alpha val="50000"/>
                </a:schemeClr>
              </a:gs>
              <a:gs pos="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5" name="圆角矩形 24"/>
          <p:cNvSpPr/>
          <p:nvPr userDrawn="1">
            <p:custDataLst>
              <p:tags r:id="rId5"/>
            </p:custDataLst>
          </p:nvPr>
        </p:nvSpPr>
        <p:spPr>
          <a:xfrm>
            <a:off x="866140" y="1225550"/>
            <a:ext cx="4532630" cy="5090795"/>
          </a:xfrm>
          <a:prstGeom prst="roundRect">
            <a:avLst>
              <a:gd name="adj" fmla="val 1585"/>
            </a:avLst>
          </a:prstGeom>
          <a:solidFill>
            <a:schemeClr val="lt1"/>
          </a:solidFill>
          <a:ln w="3175" cap="flat" cmpd="sng" algn="ctr">
            <a:solidFill>
              <a:schemeClr val="accent1">
                <a:lumMod val="10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27" name="文本占位符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082040" y="1419860"/>
            <a:ext cx="3971290" cy="29845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0" indent="0">
              <a:buNone/>
              <a:defRPr sz="1600" b="1" i="0">
                <a:solidFill>
                  <a:srgbClr val="1B1C1D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项目背景</a:t>
            </a:r>
          </a:p>
        </p:txBody>
      </p:sp>
      <p:sp>
        <p:nvSpPr>
          <p:cNvPr id="33" name="圆角矩形 32"/>
          <p:cNvSpPr/>
          <p:nvPr userDrawn="1">
            <p:custDataLst>
              <p:tags r:id="rId7"/>
            </p:custDataLst>
          </p:nvPr>
        </p:nvSpPr>
        <p:spPr>
          <a:xfrm>
            <a:off x="1082040" y="1706245"/>
            <a:ext cx="1347470" cy="76200"/>
          </a:xfrm>
          <a:prstGeom prst="roundRect">
            <a:avLst>
              <a:gd name="adj" fmla="val 48101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70000">
                <a:schemeClr val="accent3">
                  <a:alpha val="30000"/>
                </a:schemeClr>
              </a:gs>
              <a:gs pos="36000">
                <a:schemeClr val="accent4">
                  <a:alpha val="50000"/>
                </a:schemeClr>
              </a:gs>
              <a:gs pos="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46" name="序号"/>
          <p:cNvSpPr/>
          <p:nvPr>
            <p:custDataLst>
              <p:tags r:id="rId8"/>
            </p:custDataLst>
          </p:nvPr>
        </p:nvSpPr>
        <p:spPr>
          <a:xfrm>
            <a:off x="487680" y="348933"/>
            <a:ext cx="324485" cy="324485"/>
          </a:xfrm>
          <a:prstGeom prst="ellipse">
            <a:avLst/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  <a:gs pos="63000">
                <a:schemeClr val="accent3"/>
              </a:gs>
              <a:gs pos="33000">
                <a:schemeClr val="accent4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lvl="0"/>
          </a:lstStyle>
          <a:p>
            <a:pPr lvl="0" algn="ctr">
              <a:buClrTx/>
              <a:buSzTx/>
              <a:buFontTx/>
            </a:pPr>
            <a:endParaRPr lang="en-US" altLang="zh-CN" sz="2400" b="1" dirty="0">
              <a:latin typeface="+mj-ea"/>
              <a:ea typeface="+mj-ea"/>
              <a:sym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项目背景与研究目的</a:t>
            </a:r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12730" y="349250"/>
            <a:ext cx="1114425" cy="224790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 flipH="1">
            <a:off x="10247630" y="349250"/>
            <a:ext cx="0" cy="2520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2D3066A3-5FE1-D4C9-09E1-B1644817C2A5}"/>
              </a:ext>
            </a:extLst>
          </p:cNvPr>
          <p:cNvSpPr txBox="1"/>
          <p:nvPr/>
        </p:nvSpPr>
        <p:spPr>
          <a:xfrm>
            <a:off x="9059546" y="351155"/>
            <a:ext cx="118808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#</a:t>
            </a:r>
            <a:r>
              <a:rPr lang="zh-CN" altLang="en-US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客户</a:t>
            </a:r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logo#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研究方案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/>
            <a:r>
              <a:rPr lang="zh-CN" altLang="en-US"/>
              <a:t>PART2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61540" y="808990"/>
            <a:ext cx="1114425" cy="22479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H="1">
            <a:off x="1996440" y="808990"/>
            <a:ext cx="0" cy="2520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9BB12E9-E369-5246-596E-8A98825D9793}"/>
              </a:ext>
            </a:extLst>
          </p:cNvPr>
          <p:cNvSpPr txBox="1"/>
          <p:nvPr/>
        </p:nvSpPr>
        <p:spPr>
          <a:xfrm>
            <a:off x="808355" y="808990"/>
            <a:ext cx="11880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#</a:t>
            </a:r>
            <a:r>
              <a:rPr lang="zh-CN" altLang="en-US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客户</a:t>
            </a:r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logo#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87EFF0-8A22-651C-F671-D558F2DC5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研究方案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预期结果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/>
            <a:r>
              <a:rPr lang="zh-CN" altLang="en-US">
                <a:sym typeface="+mn-ea"/>
              </a:rPr>
              <a:t>PART</a:t>
            </a:r>
            <a:r>
              <a:rPr>
                <a:sym typeface="+mn-ea"/>
              </a:rPr>
              <a:t>3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61540" y="808990"/>
            <a:ext cx="1114425" cy="22479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H="1">
            <a:off x="1996440" y="808990"/>
            <a:ext cx="0" cy="2520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F0BFFD8-E486-5D19-2EA8-F646E3FC176E}"/>
              </a:ext>
            </a:extLst>
          </p:cNvPr>
          <p:cNvSpPr txBox="1"/>
          <p:nvPr/>
        </p:nvSpPr>
        <p:spPr>
          <a:xfrm>
            <a:off x="808355" y="808990"/>
            <a:ext cx="11880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#</a:t>
            </a:r>
            <a:r>
              <a:rPr lang="zh-CN" altLang="en-US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客户</a:t>
            </a:r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logo#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3C135-9942-BB5D-EDB0-E218323C6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852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研究设计与报价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/>
            <a:r>
              <a:rPr lang="zh-CN" altLang="en-US">
                <a:sym typeface="+mn-ea"/>
              </a:rPr>
              <a:t>PART</a:t>
            </a:r>
            <a:r>
              <a:rPr>
                <a:sym typeface="+mn-ea"/>
              </a:rPr>
              <a:t>4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61540" y="808990"/>
            <a:ext cx="1114425" cy="22479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H="1">
            <a:off x="1996440" y="808990"/>
            <a:ext cx="0" cy="2520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F61656B-2EB7-D601-9002-E119045B465C}"/>
              </a:ext>
            </a:extLst>
          </p:cNvPr>
          <p:cNvSpPr txBox="1"/>
          <p:nvPr/>
        </p:nvSpPr>
        <p:spPr>
          <a:xfrm>
            <a:off x="808355" y="808990"/>
            <a:ext cx="11880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#</a:t>
            </a:r>
            <a:r>
              <a:rPr lang="zh-CN" altLang="en-US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客户</a:t>
            </a:r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logo#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序号"/>
          <p:cNvSpPr/>
          <p:nvPr>
            <p:custDataLst>
              <p:tags r:id="rId1"/>
            </p:custDataLst>
          </p:nvPr>
        </p:nvSpPr>
        <p:spPr>
          <a:xfrm>
            <a:off x="487680" y="348933"/>
            <a:ext cx="324485" cy="324485"/>
          </a:xfrm>
          <a:prstGeom prst="ellipse">
            <a:avLst/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  <a:gs pos="63000">
                <a:schemeClr val="accent3"/>
              </a:gs>
              <a:gs pos="33000">
                <a:schemeClr val="accent4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lvl="0"/>
          </a:lstStyle>
          <a:p>
            <a:pPr lvl="0" algn="ctr">
              <a:buClrTx/>
              <a:buSzTx/>
              <a:buFontTx/>
            </a:pPr>
            <a:endParaRPr lang="en-US" altLang="zh-CN" sz="2400" b="1" dirty="0">
              <a:latin typeface="+mj-ea"/>
              <a:ea typeface="+mj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样本设计</a:t>
            </a:r>
            <a:endParaRPr lang="zh-CN" altLang="en-US" dirty="0"/>
          </a:p>
        </p:txBody>
      </p:sp>
      <p:graphicFrame>
        <p:nvGraphicFramePr>
          <p:cNvPr id="11" name="表格 15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23660866"/>
              </p:ext>
            </p:extLst>
          </p:nvPr>
        </p:nvGraphicFramePr>
        <p:xfrm>
          <a:off x="482600" y="1313815"/>
          <a:ext cx="11237595" cy="510222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9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4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4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1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armonyOS Sans SC Black" panose="00000A00000000000000" charset="-122"/>
                          <a:ea typeface="HarmonyOS Sans SC Black" panose="00000A00000000000000" charset="-122"/>
                          <a:cs typeface="HarmonyOS Sans SC Black" panose="00000A00000000000000" charset="-122"/>
                        </a:rPr>
                        <a:t>  </a:t>
                      </a:r>
                      <a:r>
                        <a:rPr kumimoji="0" lang="zh-CN" altLang="en-US" sz="1400" b="1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armonyOS Sans SC Black" panose="00000A00000000000000" charset="-122"/>
                          <a:ea typeface="HarmonyOS Sans SC Black" panose="00000A00000000000000" charset="-122"/>
                          <a:cs typeface="HarmonyOS Sans SC Black" panose="00000A00000000000000" charset="-122"/>
                        </a:rPr>
                        <a:t>研究方式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400" b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02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1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armonyOS Sans SC Black" panose="00000A00000000000000" charset="-122"/>
                          <a:ea typeface="HarmonyOS Sans SC Black" panose="00000A00000000000000" charset="-122"/>
                          <a:cs typeface="HarmonyOS Sans SC Black" panose="00000A00000000000000" charset="-122"/>
                        </a:rPr>
                        <a:t>  </a:t>
                      </a:r>
                      <a:r>
                        <a:rPr kumimoji="0" lang="zh-CN" altLang="en-US" sz="1400" b="1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armonyOS Sans SC Black" panose="00000A00000000000000" charset="-122"/>
                          <a:ea typeface="HarmonyOS Sans SC Black" panose="00000A00000000000000" charset="-122"/>
                          <a:cs typeface="HarmonyOS Sans SC Black" panose="00000A00000000000000" charset="-122"/>
                        </a:rPr>
                        <a:t>样本条件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altLang="zh-CN" sz="1400" kern="100" dirty="0">
                          <a:ea typeface="HarmonyOS Sans SC" panose="00000500000000000000" charset="-122"/>
                        </a:rPr>
                        <a:t>#</a:t>
                      </a:r>
                      <a:r>
                        <a:rPr lang="zh-CN" altLang="en-US" sz="1400" kern="100" dirty="0">
                          <a:ea typeface="HarmonyOS Sans SC" panose="00000500000000000000" charset="-122"/>
                        </a:rPr>
                        <a:t>样本设计</a:t>
                      </a:r>
                      <a:r>
                        <a:rPr lang="en-US" altLang="zh-CN" sz="1400" kern="100" dirty="0">
                          <a:ea typeface="HarmonyOS Sans SC" panose="00000500000000000000" charset="-122"/>
                        </a:rPr>
                        <a:t>#</a:t>
                      </a:r>
                      <a:endParaRPr lang="zh-CN" altLang="en-US" sz="1400" kern="100" dirty="0">
                        <a:ea typeface="HarmonyOS Sans SC" panose="00000500000000000000" charset="-122"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1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armonyOS Sans SC Black" panose="00000A00000000000000" charset="-122"/>
                          <a:ea typeface="HarmonyOS Sans SC Black" panose="00000A00000000000000" charset="-122"/>
                          <a:cs typeface="HarmonyOS Sans SC Black" panose="00000A00000000000000" charset="-122"/>
                        </a:rPr>
                        <a:t>  </a:t>
                      </a:r>
                      <a:r>
                        <a:rPr kumimoji="0" lang="zh-CN" altLang="en-US" sz="1400" b="1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armonyOS Sans SC Black" panose="00000A00000000000000" charset="-122"/>
                          <a:ea typeface="HarmonyOS Sans SC Black" panose="00000A00000000000000" charset="-122"/>
                          <a:cs typeface="HarmonyOS Sans SC Black" panose="00000A00000000000000" charset="-122"/>
                        </a:rPr>
                        <a:t>总样本量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rPr>
                        <a:t> #</a:t>
                      </a:r>
                      <a:r>
                        <a:rPr lang="zh-CN" altLang="en-US" sz="1400" b="0" kern="1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rPr>
                        <a:t>总样本量</a:t>
                      </a:r>
                      <a:r>
                        <a:rPr lang="en-US" altLang="zh-CN" sz="1400" b="0" kern="1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rPr>
                        <a:t>#</a:t>
                      </a:r>
                      <a:endParaRPr kumimoji="0" lang="en-US" altLang="zh-CN" sz="1400" b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515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27749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5543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83185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10871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138620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166370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194056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22180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400" b="1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armonyOS Sans SC Black" panose="00000A00000000000000" charset="-122"/>
                          <a:ea typeface="HarmonyOS Sans SC Black" panose="00000A00000000000000" charset="-122"/>
                          <a:cs typeface="HarmonyOS Sans SC Black" panose="00000A00000000000000" charset="-122"/>
                        </a:rPr>
                        <a:t>  调研长度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27749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5543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83185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10871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138620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166370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194056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22180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rPr>
                        <a:t>#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rPr>
                        <a:t>调研过程时长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rPr>
                        <a:t>#</a:t>
                      </a:r>
                      <a:endParaRPr kumimoji="0" lang="en-US" altLang="zh-CN" sz="1400" b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圆角矩形 34"/>
          <p:cNvSpPr/>
          <p:nvPr/>
        </p:nvSpPr>
        <p:spPr>
          <a:xfrm>
            <a:off x="487396" y="995556"/>
            <a:ext cx="1043526" cy="54000"/>
          </a:xfrm>
          <a:prstGeom prst="roundRect">
            <a:avLst>
              <a:gd name="adj" fmla="val 48101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70000">
                <a:schemeClr val="accent3">
                  <a:alpha val="30000"/>
                </a:schemeClr>
              </a:gs>
              <a:gs pos="36000">
                <a:schemeClr val="accent4">
                  <a:alpha val="50000"/>
                </a:schemeClr>
              </a:gs>
              <a:gs pos="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12730" y="349250"/>
            <a:ext cx="1114425" cy="224790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 flipH="1">
            <a:off x="10247630" y="349250"/>
            <a:ext cx="0" cy="2520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46ABE4A1-2E48-DBFA-7360-BAE79C7B333E}"/>
              </a:ext>
            </a:extLst>
          </p:cNvPr>
          <p:cNvSpPr txBox="1"/>
          <p:nvPr/>
        </p:nvSpPr>
        <p:spPr>
          <a:xfrm>
            <a:off x="9059546" y="351155"/>
            <a:ext cx="118808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#</a:t>
            </a:r>
            <a:r>
              <a:rPr lang="zh-CN" altLang="en-US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客户</a:t>
            </a:r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logo#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838717-A15E-0F68-AB95-9664775DA8BB}"/>
              </a:ext>
            </a:extLst>
          </p:cNvPr>
          <p:cNvSpPr txBox="1"/>
          <p:nvPr/>
        </p:nvSpPr>
        <p:spPr>
          <a:xfrm>
            <a:off x="2279323" y="1295063"/>
            <a:ext cx="1704201" cy="3644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400" kern="100" dirty="0">
                <a:ea typeface="HarmonyOS Sans SC" panose="00000500000000000000" charset="-122"/>
              </a:rPr>
              <a:t>#</a:t>
            </a:r>
            <a:r>
              <a:rPr lang="zh-CN" altLang="en-US" sz="1400" kern="100" dirty="0">
                <a:ea typeface="HarmonyOS Sans SC" panose="00000500000000000000" charset="-122"/>
              </a:rPr>
              <a:t>研究方式</a:t>
            </a:r>
            <a:r>
              <a:rPr lang="en-US" altLang="zh-CN" sz="1400" kern="100" dirty="0">
                <a:ea typeface="HarmonyOS Sans SC" panose="00000500000000000000" charset="-122"/>
              </a:rPr>
              <a:t>#</a:t>
            </a:r>
            <a:endParaRPr lang="zh-CN" altLang="en-US" sz="1400" kern="100" dirty="0">
              <a:ea typeface="HarmonyOS Sans SC" panose="000005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序号"/>
          <p:cNvSpPr/>
          <p:nvPr>
            <p:custDataLst>
              <p:tags r:id="rId1"/>
            </p:custDataLst>
          </p:nvPr>
        </p:nvSpPr>
        <p:spPr>
          <a:xfrm>
            <a:off x="487680" y="348933"/>
            <a:ext cx="324485" cy="324485"/>
          </a:xfrm>
          <a:prstGeom prst="ellipse">
            <a:avLst/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  <a:gs pos="63000">
                <a:schemeClr val="accent3"/>
              </a:gs>
              <a:gs pos="33000">
                <a:schemeClr val="accent4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lvl="0"/>
          </a:lstStyle>
          <a:p>
            <a:pPr lvl="0" algn="ctr">
              <a:buClrTx/>
              <a:buSzTx/>
              <a:buFontTx/>
            </a:pPr>
            <a:endParaRPr lang="en-US" altLang="zh-CN" sz="2400" b="1" dirty="0">
              <a:latin typeface="+mj-ea"/>
              <a:ea typeface="+mj-ea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项目周期（ezTest）</a:t>
            </a:r>
            <a:endParaRPr lang="zh-CN" altLang="en-US" dirty="0"/>
          </a:p>
        </p:txBody>
      </p:sp>
      <p:graphicFrame>
        <p:nvGraphicFramePr>
          <p:cNvPr id="2" name="表格 1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76885" y="1323340"/>
          <a:ext cx="11243310" cy="50914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99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3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3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项目内容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时间需求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具体时间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负责人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前期沟通及方案确认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&amp;#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客户名称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项目确认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/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签订合同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&amp;#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客户名称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问卷设计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endParaRPr kumimoji="0" 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问卷确认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&amp;#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客户名称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2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线上问卷编写与测试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27749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5543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83185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10871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138620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166370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194056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22180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27749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5543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83185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10871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138620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166370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194056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22180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线上问卷确认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&amp;#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客户名称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数据收集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数据处理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数据分析（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Table/Topline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报告）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46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PPT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版报告（如有）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合计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圆角矩形 34"/>
          <p:cNvSpPr/>
          <p:nvPr/>
        </p:nvSpPr>
        <p:spPr>
          <a:xfrm>
            <a:off x="487396" y="995556"/>
            <a:ext cx="1043526" cy="54000"/>
          </a:xfrm>
          <a:prstGeom prst="roundRect">
            <a:avLst>
              <a:gd name="adj" fmla="val 48101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70000">
                <a:schemeClr val="accent3">
                  <a:alpha val="30000"/>
                </a:schemeClr>
              </a:gs>
              <a:gs pos="36000">
                <a:schemeClr val="accent4">
                  <a:alpha val="50000"/>
                </a:schemeClr>
              </a:gs>
              <a:gs pos="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12730" y="349250"/>
            <a:ext cx="1114425" cy="22479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10247630" y="349250"/>
            <a:ext cx="0" cy="2520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D595399-EC07-D4AD-9E05-589458EC6AB1}"/>
              </a:ext>
            </a:extLst>
          </p:cNvPr>
          <p:cNvSpPr txBox="1"/>
          <p:nvPr/>
        </p:nvSpPr>
        <p:spPr>
          <a:xfrm>
            <a:off x="9059546" y="351155"/>
            <a:ext cx="118808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#</a:t>
            </a:r>
            <a:r>
              <a:rPr lang="zh-CN" altLang="en-US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客户</a:t>
            </a:r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logo#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1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87680" y="1329690"/>
          <a:ext cx="11232515" cy="508571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9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8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0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7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项目内容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单价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数量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合计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问卷设计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 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项问卷编程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 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v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数据采集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 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样本量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数据处理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 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数据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table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、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topline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27749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5543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83185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10871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138620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166370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194056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22180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 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27749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5543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83185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10871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138620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166370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194056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22180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PPT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报告（可选）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 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项目管理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 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8485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税前合计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181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税后合计（增值税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6%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）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6" name="序号"/>
          <p:cNvSpPr/>
          <p:nvPr>
            <p:custDataLst>
              <p:tags r:id="rId2"/>
            </p:custDataLst>
          </p:nvPr>
        </p:nvSpPr>
        <p:spPr>
          <a:xfrm>
            <a:off x="487680" y="348933"/>
            <a:ext cx="324485" cy="324485"/>
          </a:xfrm>
          <a:prstGeom prst="ellipse">
            <a:avLst/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  <a:gs pos="63000">
                <a:schemeClr val="accent3"/>
              </a:gs>
              <a:gs pos="33000">
                <a:schemeClr val="accent4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lvl="0"/>
          </a:lstStyle>
          <a:p>
            <a:pPr lvl="0" algn="ctr">
              <a:buClrTx/>
              <a:buSzTx/>
              <a:buFontTx/>
            </a:pPr>
            <a:endParaRPr lang="en-US" altLang="zh-CN" sz="2400" b="1" dirty="0">
              <a:latin typeface="+mj-ea"/>
              <a:ea typeface="+mj-ea"/>
              <a:sym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项目费用（ezTest）</a:t>
            </a:r>
            <a:endParaRPr lang="zh-CN" altLang="en-US" dirty="0"/>
          </a:p>
        </p:txBody>
      </p:sp>
      <p:sp>
        <p:nvSpPr>
          <p:cNvPr id="5" name="圆角矩形 34"/>
          <p:cNvSpPr/>
          <p:nvPr/>
        </p:nvSpPr>
        <p:spPr>
          <a:xfrm>
            <a:off x="487396" y="995556"/>
            <a:ext cx="1043526" cy="54000"/>
          </a:xfrm>
          <a:prstGeom prst="roundRect">
            <a:avLst>
              <a:gd name="adj" fmla="val 48101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70000">
                <a:schemeClr val="accent3">
                  <a:alpha val="30000"/>
                </a:schemeClr>
              </a:gs>
              <a:gs pos="36000">
                <a:schemeClr val="accent4">
                  <a:alpha val="50000"/>
                </a:schemeClr>
              </a:gs>
              <a:gs pos="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12730" y="349250"/>
            <a:ext cx="1114425" cy="224790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 flipH="1">
            <a:off x="10247630" y="349250"/>
            <a:ext cx="0" cy="2520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82D0773-4C5A-7467-5BA5-3C47EE0E8D3A}"/>
              </a:ext>
            </a:extLst>
          </p:cNvPr>
          <p:cNvSpPr txBox="1"/>
          <p:nvPr/>
        </p:nvSpPr>
        <p:spPr>
          <a:xfrm>
            <a:off x="9059546" y="351155"/>
            <a:ext cx="118808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#</a:t>
            </a:r>
            <a:r>
              <a:rPr lang="zh-CN" altLang="en-US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客户</a:t>
            </a:r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logo#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87680" y="1364615"/>
          <a:ext cx="11232515" cy="5037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9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5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项目内容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时间需求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具体时间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负责人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2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前期沟通及方案确认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&amp;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客户名称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项目确认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/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签订合同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&amp;#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客户名称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招募问卷设计与确认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&amp;#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客户名称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被访者招募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endParaRPr kumimoji="0" lang="zh-CN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访谈大纲设计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27749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5543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83185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10871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138620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166370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194056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22180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27749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5543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83185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10871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138620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166370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194056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22180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0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测试素材提供（如有）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&amp;#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客户名称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2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访谈大纲设计调整及确认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&amp;#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客户名称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访谈大纲录入系统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访谈执行与实时数据结果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18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数据分析（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Table/Topline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报告）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PPT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版报告（如有）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快决测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合计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6" name="序号"/>
          <p:cNvSpPr/>
          <p:nvPr>
            <p:custDataLst>
              <p:tags r:id="rId2"/>
            </p:custDataLst>
          </p:nvPr>
        </p:nvSpPr>
        <p:spPr>
          <a:xfrm>
            <a:off x="487680" y="348933"/>
            <a:ext cx="324485" cy="324485"/>
          </a:xfrm>
          <a:prstGeom prst="ellipse">
            <a:avLst/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  <a:gs pos="63000">
                <a:schemeClr val="accent3"/>
              </a:gs>
              <a:gs pos="33000">
                <a:schemeClr val="accent4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lvl="0"/>
          </a:lstStyle>
          <a:p>
            <a:pPr lvl="0" algn="ctr">
              <a:buClrTx/>
              <a:buSzTx/>
              <a:buFontTx/>
            </a:pPr>
            <a:endParaRPr lang="en-US" altLang="zh-CN" sz="2400" b="1" dirty="0">
              <a:latin typeface="+mj-ea"/>
              <a:ea typeface="+mj-ea"/>
              <a:sym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项目周期（ezTalk）</a:t>
            </a:r>
            <a:endParaRPr lang="zh-CN" altLang="en-US" dirty="0"/>
          </a:p>
        </p:txBody>
      </p:sp>
      <p:sp>
        <p:nvSpPr>
          <p:cNvPr id="5" name="圆角矩形 34"/>
          <p:cNvSpPr/>
          <p:nvPr/>
        </p:nvSpPr>
        <p:spPr>
          <a:xfrm>
            <a:off x="487396" y="995556"/>
            <a:ext cx="1043526" cy="54000"/>
          </a:xfrm>
          <a:prstGeom prst="roundRect">
            <a:avLst>
              <a:gd name="adj" fmla="val 48101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70000">
                <a:schemeClr val="accent3">
                  <a:alpha val="30000"/>
                </a:schemeClr>
              </a:gs>
              <a:gs pos="36000">
                <a:schemeClr val="accent4">
                  <a:alpha val="50000"/>
                </a:schemeClr>
              </a:gs>
              <a:gs pos="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12730" y="349250"/>
            <a:ext cx="1114425" cy="224790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 flipH="1">
            <a:off x="10247630" y="349250"/>
            <a:ext cx="0" cy="2520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E2386E5-9DAF-A555-0D1E-0AF0893B92F2}"/>
              </a:ext>
            </a:extLst>
          </p:cNvPr>
          <p:cNvSpPr txBox="1"/>
          <p:nvPr/>
        </p:nvSpPr>
        <p:spPr>
          <a:xfrm>
            <a:off x="9059546" y="351155"/>
            <a:ext cx="118808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#</a:t>
            </a:r>
            <a:r>
              <a:rPr lang="zh-CN" altLang="en-US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客户</a:t>
            </a:r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logo#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1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87680" y="1364615"/>
          <a:ext cx="11227435" cy="50209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94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6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2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项目内容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单价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数量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合计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108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大纲设计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 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大纲录入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 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受访者招募（投放费用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+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礼金）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 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样本量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主持人费用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 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ezTalk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平台运营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27749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5543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83185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10871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138620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166370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194056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22180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 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27749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5543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83185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10871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138620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166370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1940560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2218055">
                        <a:defRPr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4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数据处理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 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Topline/Table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数据报告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 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PPT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报告（可选）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项目管理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745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税前合计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lang="zh-CN" altLang="en-US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lang="en-US" altLang="zh-CN" sz="1400" kern="1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  <a:endParaRPr kumimoji="0" lang="en-US" altLang="zh-CN" sz="1400" u="none" strike="noStrike" kern="1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565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税后合计（增值税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6%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）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#</a:t>
                      </a:r>
                      <a:r>
                        <a:rPr kumimoji="0" lang="zh-CN" altLang="en-US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价格</a:t>
                      </a:r>
                      <a:r>
                        <a:rPr kumimoji="0" lang="en-US" altLang="zh-CN" sz="1400" u="none" strike="noStrike" kern="1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#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6" name="序号"/>
          <p:cNvSpPr/>
          <p:nvPr>
            <p:custDataLst>
              <p:tags r:id="rId2"/>
            </p:custDataLst>
          </p:nvPr>
        </p:nvSpPr>
        <p:spPr>
          <a:xfrm>
            <a:off x="487680" y="348933"/>
            <a:ext cx="324485" cy="324485"/>
          </a:xfrm>
          <a:prstGeom prst="ellipse">
            <a:avLst/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  <a:gs pos="63000">
                <a:schemeClr val="accent3"/>
              </a:gs>
              <a:gs pos="33000">
                <a:schemeClr val="accent4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lvl="0"/>
          </a:lstStyle>
          <a:p>
            <a:pPr lvl="0" algn="ctr">
              <a:buClrTx/>
              <a:buSzTx/>
              <a:buFontTx/>
            </a:pPr>
            <a:endParaRPr lang="en-US" altLang="zh-CN" sz="2400" b="1" dirty="0">
              <a:latin typeface="+mj-ea"/>
              <a:ea typeface="+mj-ea"/>
              <a:sym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项目周期（ezTalk）</a:t>
            </a:r>
            <a:endParaRPr lang="zh-CN" altLang="en-US" dirty="0"/>
          </a:p>
        </p:txBody>
      </p:sp>
      <p:sp>
        <p:nvSpPr>
          <p:cNvPr id="5" name="圆角矩形 34"/>
          <p:cNvSpPr/>
          <p:nvPr/>
        </p:nvSpPr>
        <p:spPr>
          <a:xfrm>
            <a:off x="487396" y="995556"/>
            <a:ext cx="1043526" cy="54000"/>
          </a:xfrm>
          <a:prstGeom prst="roundRect">
            <a:avLst>
              <a:gd name="adj" fmla="val 48101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70000">
                <a:schemeClr val="accent3">
                  <a:alpha val="30000"/>
                </a:schemeClr>
              </a:gs>
              <a:gs pos="36000">
                <a:schemeClr val="accent4">
                  <a:alpha val="50000"/>
                </a:schemeClr>
              </a:gs>
              <a:gs pos="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12730" y="349250"/>
            <a:ext cx="1114425" cy="224790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 flipH="1">
            <a:off x="10247630" y="349250"/>
            <a:ext cx="0" cy="2520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EC2AADB8-53C9-E8C7-33A2-ADF94AA48F40}"/>
              </a:ext>
            </a:extLst>
          </p:cNvPr>
          <p:cNvSpPr txBox="1"/>
          <p:nvPr/>
        </p:nvSpPr>
        <p:spPr>
          <a:xfrm>
            <a:off x="9059546" y="351155"/>
            <a:ext cx="118808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#</a:t>
            </a:r>
            <a:r>
              <a:rPr lang="zh-CN" altLang="en-US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客户</a:t>
            </a:r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logo#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快决测企业介绍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/>
            <a:r>
              <a:rPr lang="zh-CN" altLang="en-US">
                <a:sym typeface="+mn-ea"/>
              </a:rPr>
              <a:t>PART</a:t>
            </a:r>
            <a:r>
              <a:rPr>
                <a:sym typeface="+mn-ea"/>
              </a:rPr>
              <a:t>5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61540" y="808990"/>
            <a:ext cx="1114425" cy="22479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H="1">
            <a:off x="1996440" y="808990"/>
            <a:ext cx="0" cy="2520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BB34FB1B-4A8A-9CB7-1FA9-D714488A45D6}"/>
              </a:ext>
            </a:extLst>
          </p:cNvPr>
          <p:cNvSpPr txBox="1"/>
          <p:nvPr/>
        </p:nvSpPr>
        <p:spPr>
          <a:xfrm>
            <a:off x="808355" y="808990"/>
            <a:ext cx="11880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#</a:t>
            </a:r>
            <a:r>
              <a:rPr lang="zh-CN" altLang="en-US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客户</a:t>
            </a:r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logo#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3DB11-78A4-A541-15DB-0697902AE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295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54102" y="1780337"/>
            <a:ext cx="6093417" cy="2294852"/>
          </a:xfrm>
        </p:spPr>
        <p:txBody>
          <a:bodyPr/>
          <a:lstStyle/>
          <a:p>
            <a:r>
              <a:rPr lang="zh-CN" altLang="en-US" sz="6600"/>
              <a:t>Thanks </a:t>
            </a:r>
            <a:br>
              <a:rPr lang="zh-CN" altLang="en-US" sz="6600"/>
            </a:br>
            <a:r>
              <a:rPr lang="zh-CN" altLang="en-US" sz="6600"/>
              <a:t>For Watching</a:t>
            </a:r>
          </a:p>
        </p:txBody>
      </p:sp>
      <p:sp>
        <p:nvSpPr>
          <p:cNvPr id="29" name="矩形: 圆角 28"/>
          <p:cNvSpPr/>
          <p:nvPr userDrawn="1">
            <p:custDataLst>
              <p:tags r:id="rId1"/>
            </p:custDataLst>
          </p:nvPr>
        </p:nvSpPr>
        <p:spPr>
          <a:xfrm>
            <a:off x="1065530" y="4101465"/>
            <a:ext cx="2917825" cy="4032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>
              <a:gsLst>
                <a:gs pos="25000">
                  <a:schemeClr val="accent3"/>
                </a:gs>
                <a:gs pos="0">
                  <a:schemeClr val="accent2"/>
                </a:gs>
                <a:gs pos="50000">
                  <a:schemeClr val="accent4"/>
                </a:gs>
                <a:gs pos="100000">
                  <a:schemeClr val="accent1"/>
                </a:gs>
              </a:gsLst>
              <a:lin ang="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 fontAlgn="base">
              <a:buClrTx/>
              <a:buSzTx/>
              <a:buFontTx/>
              <a:defRPr/>
            </a:pPr>
            <a:r>
              <a:rPr lang="zh-CN" altLang="en-US" sz="14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姓名丨职位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54102" y="4600258"/>
            <a:ext cx="2834640" cy="69405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>
                <a:solidFill>
                  <a:schemeClr val="accent1"/>
                </a:solidFill>
                <a:latin typeface="HarmonyOS Sans SC Medium" panose="00000600000000000000" charset="-122"/>
                <a:ea typeface="HarmonyOS Sans SC Medium" panose="00000600000000000000" charset="-122"/>
                <a:cs typeface="HarmonyOS Sans SC Medium" panose="00000600000000000000" charset="-122"/>
              </a:rPr>
              <a:t>手机</a:t>
            </a:r>
            <a:r>
              <a:rPr lang="en-US" altLang="zh-CN" sz="1400">
                <a:solidFill>
                  <a:schemeClr val="accent1"/>
                </a:solidFill>
                <a:latin typeface="HarmonyOS Sans SC Medium" panose="00000600000000000000" charset="-122"/>
                <a:ea typeface="HarmonyOS Sans SC Medium" panose="00000600000000000000" charset="-122"/>
                <a:cs typeface="HarmonyOS Sans SC Medium" panose="00000600000000000000" charset="-122"/>
              </a:rPr>
              <a:t>&amp;</a:t>
            </a:r>
            <a:r>
              <a:rPr lang="zh-CN" altLang="en-US" sz="1400">
                <a:solidFill>
                  <a:schemeClr val="accent1"/>
                </a:solidFill>
                <a:latin typeface="HarmonyOS Sans SC Medium" panose="00000600000000000000" charset="-122"/>
                <a:ea typeface="HarmonyOS Sans SC Medium" panose="00000600000000000000" charset="-122"/>
                <a:cs typeface="HarmonyOS Sans SC Medium" panose="00000600000000000000" charset="-122"/>
              </a:rPr>
              <a:t>微信：</a:t>
            </a:r>
            <a:r>
              <a:rPr lang="en-US" altLang="zh-CN" sz="1400">
                <a:solidFill>
                  <a:schemeClr val="tx1"/>
                </a:solidFill>
                <a:latin typeface="HarmonyOS Sans SC" panose="00000500000000000000" charset="-122"/>
                <a:ea typeface="HarmonyOS Sans SC" panose="00000500000000000000" charset="-122"/>
              </a:rPr>
              <a:t>XXX</a:t>
            </a:r>
          </a:p>
          <a:p>
            <a:pPr>
              <a:lnSpc>
                <a:spcPct val="140000"/>
              </a:lnSpc>
            </a:pPr>
            <a:r>
              <a:rPr lang="zh-CN" altLang="en-US" sz="1400">
                <a:solidFill>
                  <a:schemeClr val="accent1"/>
                </a:solidFill>
                <a:latin typeface="HarmonyOS Sans SC Medium" panose="00000600000000000000" charset="-122"/>
                <a:ea typeface="HarmonyOS Sans SC Medium" panose="00000600000000000000" charset="-122"/>
                <a:sym typeface="+mn-ea"/>
              </a:rPr>
              <a:t>邮箱：</a:t>
            </a:r>
            <a:r>
              <a:rPr lang="en-US" altLang="zh-CN" sz="1400"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XXX</a:t>
            </a:r>
            <a:r>
              <a:rPr lang="zh-CN" altLang="en-US" sz="1400"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@qdtech.ai</a:t>
            </a:r>
            <a:endParaRPr lang="en-US" altLang="zh-CN" sz="1400">
              <a:solidFill>
                <a:schemeClr val="tx1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09570" y="7209790"/>
            <a:ext cx="4064000" cy="914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>
              <a:lnSpc>
                <a:spcPct val="140000"/>
              </a:lnSpc>
            </a:pPr>
            <a:endParaRPr lang="zh-CN" altLang="en-US" sz="24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61540" y="808990"/>
            <a:ext cx="1114425" cy="22479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1996440" y="808990"/>
            <a:ext cx="0" cy="2520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E2B5F979-1F19-B054-DB34-A608C9F51739}"/>
              </a:ext>
            </a:extLst>
          </p:cNvPr>
          <p:cNvSpPr txBox="1"/>
          <p:nvPr/>
        </p:nvSpPr>
        <p:spPr>
          <a:xfrm>
            <a:off x="808355" y="808990"/>
            <a:ext cx="11880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#</a:t>
            </a:r>
            <a:r>
              <a:rPr lang="zh-CN" altLang="en-US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客户</a:t>
            </a:r>
            <a:r>
              <a:rPr lang="en-US" altLang="zh-CN" sz="1400" b="1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rPr>
              <a:t>logo#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hhNGE4ZjhiZjE2MGE2NGYzNjc5ZTgwODRhNmU4MT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9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593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5934"/>
  <p:tag name="KSO_WM_TEMPLATE_CATEGORY" val="custom"/>
  <p:tag name="KSO_WM_TEMPLATE_MASTER_TYPE" val="0"/>
  <p:tag name="KSO_WM_TEMPLATE_COLORSEQUENCE" val="1,2,3,4,5,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_BRIGHTNESS" val="0"/>
  <p:tag name="KSO_WM_UNIT_TEXT_FILL_FORE_SCHEMECOLOR_INDEX" val="14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_BRIGHTNESS" val="0"/>
  <p:tag name="KSO_WM_UNIT_TEXT_FILL_FORE_SCHEMECOLOR_INDEX" val="14"/>
  <p:tag name="KSO_WM_UNIT_TEXT_FILL_TYP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2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93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2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93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5b4c4ed-c65d-415e-ba0d-3c69c1909a17}"/>
  <p:tag name="TABLE_ENDDRAG_ORIGIN_RECT" val="884*401"/>
  <p:tag name="TABLE_ENDDRAG_RECT" val="38*99*884*40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2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93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85,&quot;left&quot;:38.4,&quot;top&quot;:96.5,&quot;width&quot;:883.05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85,&quot;left&quot;:38.4,&quot;top&quot;:96.5,&quot;width&quot;:883.05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85,&quot;left&quot;:38.4,&quot;top&quot;:96.5,&quot;width&quot;:883.05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85,&quot;left&quot;:38.4,&quot;top&quot;:96.5,&quot;width&quot;:883.05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_BRIGHTNESS" val="0"/>
  <p:tag name="KSO_WM_UNIT_TEXT_FILL_FORE_SCHEMECOLOR_INDEX" val="14"/>
  <p:tag name="KSO_WM_UNIT_TEXT_FILL_TYPE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5"/>
  <p:tag name="KSO_WM_DIAGRAM_GROUP_CODE" val="l1-1"/>
  <p:tag name="KSO_WM_BEAUTIFY_FLAG" val="#wm#"/>
  <p:tag name="KSO_WM_TEMPLATE_INDEX" val="20235918"/>
  <p:tag name="KSO_WM_TEMPLATE_CATEGORY" val="custom"/>
  <p:tag name="KSO_WM_SLIDE_INDEX" val="5"/>
  <p:tag name="KSO_WM_SLIDE_ID" val="custom20235918_5"/>
  <p:tag name="KSO_WM_TEMPLATE_MASTER_TYPE" val="0"/>
  <p:tag name="KSO_WM_SLIDE_LAYOUT" val="a_l"/>
  <p:tag name="KSO_WM_SLIDE_LAYOUT_CNT" val="1_1"/>
  <p:tag name="KSO_WM_SLIDE_DIAGTYPE" val="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20235918_5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18"/>
  <p:tag name="KSO_WM_TEMPLATE_CATEGORY" val="custo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目录"/>
  <p:tag name="KSO_WM_UNIT_ISCONTENTSTITLE" val="1"/>
  <p:tag name="KSO_WM_DIAGRAM_GROUP_CODE" val="l1-1"/>
  <p:tag name="KSO_WM_DIAGRAM_COLOR_TRICK" val="1"/>
  <p:tag name="KSO_WM_DIAGRAM_COLOR_TEXT_CAN_REMOVE" val="n"/>
  <p:tag name="KSO_WM_UNIT_ID" val="custom20235918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18"/>
  <p:tag name="KSO_WM_TEMPLATE_CATEGORY" val="custo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5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5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,&quot;colorType&quot;:1,&quot;foreColorIndex&quot;:16,&quot;pos&quot;:0,&quot;transparency&quot;:0},{&quot;brightness&quot;:0,&quot;colorType&quot;:1,&quot;foreColorIndex&quot;:16,&quot;pos&quot;:1,&quot;transparency&quot;:1}],&quot;type&quot;:3},&quot;glow&quot;:{&quot;colorType&quot;:0},&quot;line&quot;:{&quot;solidLine&quot;:{&quot;brightness&quot;:-0.10000000149011612,&quot;colorType&quot;:1,&quot;foreColorIndex&quot;:16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5_2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5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5_1"/>
  <p:tag name="KSO_WM_TAG_VERSION" val="3.0"/>
  <p:tag name="KSO_WM_DIAGRAM_VERSION" val="3"/>
  <p:tag name="KSO_WM_UNIT_PRESET_TEXT" val="单击添加目录项标题"/>
  <p:tag name="KSO_WM_DIAGRAM_GROUP_CODE" val="l1-1"/>
  <p:tag name="KSO_WM_DIAGRAM_COLOR_TRICK" val="1"/>
  <p:tag name="KSO_WM_DIAGRAM_COLOR_TEXT_CAN_REMOVE" val="n"/>
  <p:tag name="KSO_WM_UNIT_ID" val="custom20235918_5*l_h_f*1_5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4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,&quot;colorType&quot;:1,&quot;foreColorIndex&quot;:16,&quot;pos&quot;:0,&quot;transparency&quot;:0},{&quot;brightness&quot;:0,&quot;colorType&quot;:1,&quot;foreColorIndex&quot;:16,&quot;pos&quot;:1,&quot;transparency&quot;:1}],&quot;type&quot;:3},&quot;glow&quot;:{&quot;colorType&quot;:0},&quot;line&quot;:{&quot;solidLine&quot;:{&quot;brightness&quot;:-0.10000000149011612,&quot;colorType&quot;:1,&quot;foreColorIndex&quot;:16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4_2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4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4_1"/>
  <p:tag name="KSO_WM_TAG_VERSION" val="3.0"/>
  <p:tag name="KSO_WM_DIAGRAM_VERSION" val="3"/>
  <p:tag name="KSO_WM_UNIT_PRESET_TEXT" val="单击添加目录项标题"/>
  <p:tag name="KSO_WM_DIAGRAM_GROUP_CODE" val="l1-1"/>
  <p:tag name="KSO_WM_DIAGRAM_COLOR_TRICK" val="1"/>
  <p:tag name="KSO_WM_DIAGRAM_COLOR_TEXT_CAN_REMOVE" val="n"/>
  <p:tag name="KSO_WM_UNIT_ID" val="custom20235918_5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3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,&quot;colorType&quot;:1,&quot;foreColorIndex&quot;:16,&quot;pos&quot;:0,&quot;transparency&quot;:0},{&quot;brightness&quot;:0,&quot;colorType&quot;:1,&quot;foreColorIndex&quot;:16,&quot;pos&quot;:1,&quot;transparency&quot;:1}],&quot;type&quot;:3},&quot;glow&quot;:{&quot;colorType&quot;:0},&quot;line&quot;:{&quot;solidLine&quot;:{&quot;brightness&quot;:-0.10000000149011612,&quot;colorType&quot;:1,&quot;foreColorIndex&quot;:16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3_2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3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3_1"/>
  <p:tag name="KSO_WM_TAG_VERSION" val="3.0"/>
  <p:tag name="KSO_WM_DIAGRAM_VERSION" val="3"/>
  <p:tag name="KSO_WM_UNIT_PRESET_TEXT" val="单击添加目录项标题"/>
  <p:tag name="KSO_WM_DIAGRAM_GROUP_CODE" val="l1-1"/>
  <p:tag name="KSO_WM_DIAGRAM_COLOR_TRICK" val="1"/>
  <p:tag name="KSO_WM_DIAGRAM_COLOR_TEXT_CAN_REMOVE" val="n"/>
  <p:tag name="KSO_WM_UNIT_ID" val="custom20235918_5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2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,&quot;colorType&quot;:1,&quot;foreColorIndex&quot;:16,&quot;pos&quot;:0,&quot;transparency&quot;:0},{&quot;brightness&quot;:0,&quot;colorType&quot;:1,&quot;foreColorIndex&quot;:16,&quot;pos&quot;:1,&quot;transparency&quot;:1}],&quot;type&quot;:3},&quot;glow&quot;:{&quot;colorType&quot;:0},&quot;line&quot;:{&quot;solidLine&quot;:{&quot;brightness&quot;:-0.10000000149011612,&quot;colorType&quot;:1,&quot;foreColorIndex&quot;:16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2_2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2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2_1"/>
  <p:tag name="KSO_WM_TAG_VERSION" val="3.0"/>
  <p:tag name="KSO_WM_DIAGRAM_VERSION" val="3"/>
  <p:tag name="KSO_WM_UNIT_PRESET_TEXT" val="单击添加目录项标题"/>
  <p:tag name="KSO_WM_DIAGRAM_GROUP_CODE" val="l1-1"/>
  <p:tag name="KSO_WM_DIAGRAM_COLOR_TRICK" val="1"/>
  <p:tag name="KSO_WM_DIAGRAM_COLOR_TEXT_CAN_REMOVE" val="n"/>
  <p:tag name="KSO_WM_UNIT_ID" val="custom20235918_5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1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,&quot;colorType&quot;:1,&quot;foreColorIndex&quot;:16,&quot;pos&quot;:0,&quot;transparency&quot;:0},{&quot;brightness&quot;:0,&quot;colorType&quot;:1,&quot;foreColorIndex&quot;:16,&quot;pos&quot;:1,&quot;transparency&quot;:1}],&quot;type&quot;:3},&quot;glow&quot;:{&quot;colorType&quot;:0},&quot;line&quot;:{&quot;solidLine&quot;:{&quot;brightness&quot;:-0.10000000149011612,&quot;colorType&quot;:1,&quot;foreColorIndex&quot;:16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2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1_1"/>
  <p:tag name="KSO_WM_TAG_VERSION" val="3.0"/>
  <p:tag name="KSO_WM_DIAGRAM_VERSION" val="3"/>
  <p:tag name="KSO_WM_UNIT_PRESET_TEXT" val="单击添加目录项标题"/>
  <p:tag name="KSO_WM_DIAGRAM_GROUP_CODE" val="l1-1"/>
  <p:tag name="KSO_WM_DIAGRAM_COLOR_TRICK" val="1"/>
  <p:tag name="KSO_WM_DIAGRAM_COLOR_TEXT_CAN_REMOVE" val="n"/>
  <p:tag name="KSO_WM_UNIT_ID" val="custom20235918_5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85,&quot;left&quot;:38.4,&quot;top&quot;:96.5,&quot;width&quot;:883.05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85,&quot;left&quot;:38.4,&quot;top&quot;:96.5,&quot;width&quot;:883.05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85,&quot;left&quot;:38.4,&quot;top&quot;:96.5,&quot;width&quot;:883.05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85,&quot;left&quot;:38.4,&quot;top&quot;:96.5,&quot;width&quot;:883.05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85,&quot;left&quot;:38.4,&quot;top&quot;:96.5,&quot;width&quot;:883.05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85,&quot;left&quot;:38.4,&quot;top&quot;:96.5,&quot;width&quot;:883.05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85,&quot;left&quot;:38.4,&quot;top&quot;:96.5,&quot;width&quot;:883.05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2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2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5b4c4ed-c65d-415e-ba0d-3c69c1909a17}"/>
  <p:tag name="TABLE_ENDDRAG_ORIGIN_RECT" val="884*401"/>
  <p:tag name="TABLE_ENDDRAG_RECT" val="38*99*884*40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2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59a2507-d6ea-4609-9855-d77382192e33}"/>
  <p:tag name="TABLE_ENDDRAG_ORIGIN_RECT" val="885*400"/>
  <p:tag name="TABLE_ENDDRAG_RECT" val="37*104*885*40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f5bc343-d6e8-4a92-84ed-3965b15e188f}"/>
  <p:tag name="TABLE_ENDDRAG_ORIGIN_RECT" val="884*400"/>
  <p:tag name="TABLE_ENDDRAG_RECT" val="38*104*884*40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2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d80fdc1-9ad3-434a-b123-8af5b18cdd54}"/>
  <p:tag name="TABLE_ENDDRAG_ORIGIN_RECT" val="884*396"/>
  <p:tag name="TABLE_ENDDRAG_RECT" val="38*107*884*396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2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ad209e3-a103-40dc-bca2-a261d79af942}"/>
  <p:tag name="TABLE_ENDDRAG_ORIGIN_RECT" val="884*395"/>
  <p:tag name="TABLE_ENDDRAG_RECT" val="38*107*884*395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2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18_5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18"/>
  <p:tag name="KSO_WM_TEMPLATE_CATEGORY" val="custom"/>
  <p:tag name="KSO_WM_DIAGRAM_MAX_ITEMCNT" val="6"/>
  <p:tag name="KSO_WM_DIAGRAM_MIN_ITEMCNT" val="2"/>
  <p:tag name="KSO_WM_DIAGRAM_VIRTUALLY_FRAME" val="{&quot;height&quot;:255.0105438232422,&quot;left&quot;:83.12503937007874,&quot;top&quot;:200.77555486003249,&quot;width&quot;:793.625433070866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B50FB5"/>
      </a:accent1>
      <a:accent2>
        <a:srgbClr val="FFC300"/>
      </a:accent2>
      <a:accent3>
        <a:srgbClr val="FD6525"/>
      </a:accent3>
      <a:accent4>
        <a:srgbClr val="EF155F"/>
      </a:accent4>
      <a:accent5>
        <a:srgbClr val="9C059C"/>
      </a:accent5>
      <a:accent6>
        <a:srgbClr val="75BD42"/>
      </a:accent6>
      <a:hlink>
        <a:srgbClr val="30C0B4"/>
      </a:hlink>
      <a:folHlink>
        <a:srgbClr val="F2BA02"/>
      </a:folHlink>
    </a:clrScheme>
    <a:fontScheme name="qmj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3820</TotalTime>
  <Words>801</Words>
  <Application>Microsoft Office PowerPoint</Application>
  <PresentationFormat>宽屏</PresentationFormat>
  <Paragraphs>216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HarmonyOS Sans SC</vt:lpstr>
      <vt:lpstr>HarmonyOS Sans SC Black</vt:lpstr>
      <vt:lpstr>HarmonyOS Sans SC Medium</vt:lpstr>
      <vt:lpstr>等线</vt:lpstr>
      <vt:lpstr>微软雅黑</vt:lpstr>
      <vt:lpstr>微软雅黑 Light</vt:lpstr>
      <vt:lpstr>Arial</vt:lpstr>
      <vt:lpstr>Office 主题​​</vt:lpstr>
      <vt:lpstr>PowerPoint 演示文稿</vt:lpstr>
      <vt:lpstr>目录</vt:lpstr>
      <vt:lpstr>项目背景与研究目的</vt:lpstr>
      <vt:lpstr>行业现状</vt:lpstr>
      <vt:lpstr>项目背景与研究目的</vt:lpstr>
      <vt:lpstr>研究方案</vt:lpstr>
      <vt:lpstr>研究方案</vt:lpstr>
      <vt:lpstr>预期结果</vt:lpstr>
      <vt:lpstr>PowerPoint 演示文稿</vt:lpstr>
      <vt:lpstr>研究设计与报价</vt:lpstr>
      <vt:lpstr>样本设计</vt:lpstr>
      <vt:lpstr>项目周期（ezTest）</vt:lpstr>
      <vt:lpstr>项目费用（ezTest）</vt:lpstr>
      <vt:lpstr>项目周期（ezTalk）</vt:lpstr>
      <vt:lpstr>项目周期（ezTalk）</vt:lpstr>
      <vt:lpstr>快决测企业介绍</vt:lpstr>
      <vt:lpstr>PowerPoint 演示文稿</vt:lpstr>
      <vt:lpstr>Thanks  For Watching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以用户为中心的增长模型（运营）</dc:title>
  <dc:creator>Li Perry</dc:creator>
  <cp:lastModifiedBy>Yihao Wang</cp:lastModifiedBy>
  <cp:revision>48</cp:revision>
  <dcterms:created xsi:type="dcterms:W3CDTF">2024-07-06T14:28:00Z</dcterms:created>
  <dcterms:modified xsi:type="dcterms:W3CDTF">2025-03-17T03:21:41Z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9FE691AAF5244FAAA1EE228ABEDC025C_13</vt:lpwstr>
  </property>
  <property fmtid="{D5CDD505-2E9C-101B-9397-08002B2CF9AE}" pid="3" name="KSOProductBuildVer">
    <vt:lpwstr>2052-12.1.0.20305</vt:lpwstr>
  </property>
</Properties>
</file>